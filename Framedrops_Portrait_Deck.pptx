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01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194560"/>
            <a:ext cx="2377440" cy="4114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21945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FOR PHOTOGRAPHERS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Helvetica Neue"/>
              </a:rPr>
              <a:t>Still delivering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8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client photos</a:t>
            </a:r>
          </a:p>
          <a:p>
            <a:pPr algn="ctr">
              <a:lnSpc>
                <a:spcPct val="105000"/>
              </a:lnSpc>
            </a:pPr>
            <a:r>
              <a:rPr sz="68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the hard way?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949440"/>
            <a:ext cx="5577840" cy="3291840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7434072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72694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WhatsApp screenshots flying around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8147304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7982712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“Send me photo #87 again, please”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8860536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8695944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Endless follow-up chats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9573768"/>
            <a:ext cx="201168" cy="201168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9409176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USB drives. Pen drives. Lost drives.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11277295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Swipe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11551615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latin typeface="Helvetica Neue"/>
                <a:gradFill>
                  <a:gsLst>
                    <a:gs pos="0">
                      <a:srgbClr val="FF4D8D"/>
                    </a:gs>
                    <a:gs pos="100000">
                      <a:srgbClr val="FF8A3D"/>
                    </a:gs>
                  </a:gsLst>
                  <a:lin ang="0" scaled="0"/>
                </a:gradFill>
              </a:rPr>
              <a:t>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02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286000"/>
            <a:ext cx="1645920" cy="41148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FFFFFF"/>
                </a:solidFill>
                <a:latin typeface="Helvetica Neue"/>
              </a:rPr>
              <a:t>INTRODUCING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Meet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6126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 spc="-5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6035040"/>
            <a:ext cx="219456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The all-in-one platform for</a:t>
            </a:r>
          </a:p>
          <a:p>
            <a:pPr algn="ctr">
              <a:lnSpc>
                <a:spcPct val="135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photographers to share, select &amp; deliver.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7772400"/>
            <a:ext cx="1325880" cy="5029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777240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Helvetica Neue"/>
              </a:rPr>
              <a:t>Upload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7772400"/>
            <a:ext cx="1325880" cy="5029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777240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Helvetica Neue"/>
              </a:rPr>
              <a:t>Select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7772400"/>
            <a:ext cx="1325880" cy="5029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777240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Helvetica Neue"/>
              </a:rPr>
              <a:t>Transfer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7772400"/>
            <a:ext cx="1325880" cy="5029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0057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777240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Helvetica Neue"/>
              </a:rPr>
              <a:t>Pay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57400" y="8778240"/>
            <a:ext cx="2743200" cy="256032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57400" y="8778240"/>
            <a:ext cx="2743200" cy="256032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7128" y="8887968"/>
            <a:ext cx="2523744" cy="2340864"/>
          </a:xfrm>
          <a:prstGeom prst="roundRect">
            <a:avLst/>
          </a:prstGeom>
          <a:gradFill flip="none" rotWithShape="1">
            <a:gsLst>
              <a:gs pos="0">
                <a:srgbClr val="101F42"/>
              </a:gs>
              <a:gs pos="100000">
                <a:srgbClr val="1A1244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90088" y="8851392"/>
            <a:ext cx="877824" cy="164592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258568" y="9162288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54096" y="9162288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49624" y="9162288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58568" y="9957816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54096" y="9957816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49624" y="9957816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258568" y="10753344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54096" y="10753344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9624" y="10753344"/>
            <a:ext cx="749808" cy="749808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03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1463040" cy="38404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FFFFFF"/>
                </a:solidFill>
                <a:latin typeface="Helvetica Neue"/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Upload your shoot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in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Smart compression keeps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your quality razor sharp.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20" y="5577840"/>
            <a:ext cx="3108960" cy="512064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74520" y="5577840"/>
            <a:ext cx="3108960" cy="512064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84248" y="5687568"/>
            <a:ext cx="2889504" cy="4901184"/>
          </a:xfrm>
          <a:prstGeom prst="roundRect">
            <a:avLst/>
          </a:prstGeom>
          <a:gradFill flip="none" rotWithShape="1">
            <a:gsLst>
              <a:gs pos="0">
                <a:srgbClr val="101F42"/>
              </a:gs>
              <a:gs pos="100000">
                <a:srgbClr val="1A1244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31566" y="5650992"/>
            <a:ext cx="994867" cy="164592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99846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Upload Shoot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619048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6C2E0"/>
                </a:solidFill>
                <a:latin typeface="Helvetica Neue"/>
              </a:rPr>
              <a:t>Smart compression  •  Quality preserved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85416" y="6556248"/>
            <a:ext cx="2487168" cy="12801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36392" y="6784848"/>
            <a:ext cx="594360" cy="59436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oud 25"/>
          <p:cNvSpPr/>
          <p:nvPr/>
        </p:nvSpPr>
        <p:spPr>
          <a:xfrm>
            <a:off x="3207715" y="6951268"/>
            <a:ext cx="451713" cy="297180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3386023" y="7034479"/>
            <a:ext cx="95097" cy="154533"/>
          </a:xfrm>
          <a:prstGeom prst="upArrow">
            <a:avLst/>
          </a:prstGeom>
          <a:solidFill>
            <a:srgbClr val="005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85416" y="742492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Drop your shoot here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85416" y="8019288"/>
            <a:ext cx="2487168" cy="6400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8092440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sangeet-RAW.zip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826617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6C2E0"/>
                </a:solidFill>
                <a:latin typeface="Helvetica Neue"/>
              </a:rPr>
              <a:t>1,248 photos  •  4.7 GB → 1.9 GB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8476488"/>
            <a:ext cx="2194560" cy="91440"/>
          </a:xfrm>
          <a:prstGeom prst="roundRect">
            <a:avLst/>
          </a:prstGeom>
          <a:solidFill>
            <a:srgbClr val="1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331720" y="8476488"/>
            <a:ext cx="1580083" cy="914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85416" y="8887968"/>
            <a:ext cx="2487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6C2E0"/>
                </a:solidFill>
                <a:latin typeface="Helvetica Neue"/>
              </a:rPr>
              <a:t>⚡ Upload accelerated • Originals 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1092708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1018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latin typeface="Helvetica Neue"/>
                <a:gradFill>
                  <a:gsLst>
                    <a:gs pos="0">
                      <a:srgbClr val="0057FF"/>
                    </a:gs>
                    <a:gs pos="100000">
                      <a:srgbClr val="7B2CFF"/>
                    </a:gs>
                  </a:gsLst>
                  <a:lin ang="0" scaled="0"/>
                </a:gradFill>
              </a:rPr>
              <a:t>10×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11430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Faster uploads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4600" y="1092708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4600" y="11018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latin typeface="Helvetica Neue"/>
                <a:gradFill>
                  <a:gsLst>
                    <a:gs pos="0">
                      <a:srgbClr val="7B2CFF"/>
                    </a:gs>
                    <a:gs pos="100000">
                      <a:srgbClr val="FF4D8D"/>
                    </a:gs>
                  </a:gsLst>
                  <a:lin ang="0" scaled="0"/>
                </a:gradFill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11430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Quality preserved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1092708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11018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latin typeface="Helvetica Neue"/>
                <a:gradFill>
                  <a:gsLst>
                    <a:gs pos="0">
                      <a:srgbClr val="FF4D8D"/>
                    </a:gs>
                    <a:gs pos="100000">
                      <a:srgbClr val="FF8A3D"/>
                    </a:gs>
                  </a:gsLst>
                  <a:lin ang="0" scaled="0"/>
                </a:gradFill>
              </a:rPr>
              <a:t>GB → 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11430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Smart compress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04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1463040" cy="38404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FFFFFF"/>
                </a:solidFill>
                <a:latin typeface="Helvetica Neue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ORGANIZE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Beautiful albums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8521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every client,</a:t>
            </a:r>
          </a:p>
          <a:p>
            <a:pPr algn="l">
              <a:lnSpc>
                <a:spcPct val="105000"/>
              </a:lnSpc>
            </a:pPr>
            <a:r>
              <a:rPr sz="52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event, season.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52160"/>
            <a:ext cx="288036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852160"/>
            <a:ext cx="288036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5989320"/>
            <a:ext cx="2606040" cy="10058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6144768"/>
            <a:ext cx="713232" cy="713232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4181" y="6373002"/>
            <a:ext cx="456470" cy="29955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2564" y="6422928"/>
            <a:ext cx="199704" cy="199704"/>
          </a:xfrm>
          <a:prstGeom prst="ellipse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490" y="6472854"/>
            <a:ext cx="99852" cy="998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5504" y="6315944"/>
            <a:ext cx="156911" cy="5705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6217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Sneha &amp; Rohan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537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8FAFF"/>
                </a:solidFill>
                <a:latin typeface="Helvetica Neue"/>
              </a:rPr>
              <a:t>Wedding · 1,248 photos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95578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69364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43150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77266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View album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5852160"/>
            <a:ext cx="288036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20440" y="5852160"/>
            <a:ext cx="288036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5989320"/>
            <a:ext cx="2606040" cy="100584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49040" y="6144768"/>
            <a:ext cx="713232" cy="713232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77421" y="6358737"/>
            <a:ext cx="299557" cy="213969"/>
          </a:xfrm>
          <a:prstGeom prst="round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34480" y="6401531"/>
            <a:ext cx="299557" cy="213969"/>
          </a:xfrm>
          <a:prstGeom prst="round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991538" y="6444325"/>
            <a:ext cx="299557" cy="21396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62179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Aarav Turns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65379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8FAFF"/>
                </a:solidFill>
                <a:latin typeface="Helvetica Neue"/>
              </a:rPr>
              <a:t>Birthday · 312 photos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85032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58818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32604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06390" y="717804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772668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View album 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8229600"/>
            <a:ext cx="288036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7200" y="8229600"/>
            <a:ext cx="288036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8366760"/>
            <a:ext cx="2606040" cy="100584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5800" y="8522208"/>
            <a:ext cx="713232" cy="713232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art 49"/>
          <p:cNvSpPr/>
          <p:nvPr/>
        </p:nvSpPr>
        <p:spPr>
          <a:xfrm>
            <a:off x="814181" y="8679119"/>
            <a:ext cx="456468" cy="399409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4480" y="85953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Verma Family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8915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8FAFF"/>
                </a:solidFill>
                <a:latin typeface="Helvetica Neue"/>
              </a:rPr>
              <a:t>Maternity · 184 photos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95578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769364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343150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101041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View album 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20440" y="8229600"/>
            <a:ext cx="288036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520440" y="8229600"/>
            <a:ext cx="288036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0057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657600" y="8366760"/>
            <a:ext cx="2606040" cy="100584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749040" y="8522208"/>
            <a:ext cx="713232" cy="713232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ightning Bolt 61"/>
          <p:cNvSpPr/>
          <p:nvPr/>
        </p:nvSpPr>
        <p:spPr>
          <a:xfrm>
            <a:off x="3963009" y="8650589"/>
            <a:ext cx="285292" cy="45646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17720" y="85953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Diwali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17720" y="89154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8FAFF"/>
                </a:solidFill>
                <a:latin typeface="Helvetica Neue"/>
              </a:rPr>
              <a:t>Brand · 96 photos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85032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58818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832604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406390" y="9555480"/>
            <a:ext cx="528066" cy="59436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03320" y="1010412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View album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05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1463040" cy="384048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FFFFFF"/>
                </a:solidFill>
                <a:latin typeface="Helvetica Neue"/>
              </a:rPr>
              <a:t>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Share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clean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Clients pick their favorites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from any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5760720" cy="12801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577840"/>
            <a:ext cx="5760720" cy="128016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779008"/>
            <a:ext cx="868680" cy="8686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" y="6091732"/>
            <a:ext cx="330098" cy="191109"/>
          </a:xfrm>
          <a:prstGeom prst="roundRect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87805" y="6091732"/>
            <a:ext cx="330098" cy="191109"/>
          </a:xfrm>
          <a:prstGeom prst="roundRect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6492" y="6169914"/>
            <a:ext cx="121615" cy="434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577900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Your album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608076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latin typeface="Helvetica Neue"/>
                <a:gradFill>
                  <a:gsLst>
                    <a:gs pos="0">
                      <a:srgbClr val="0057FF"/>
                    </a:gs>
                    <a:gs pos="100000">
                      <a:srgbClr val="FF4D8D"/>
                    </a:gs>
                  </a:gsLst>
                  <a:lin ang="0" scaled="0"/>
                </a:gradFill>
              </a:rPr>
              <a:t>framedrops.in/sneha-rohan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7223760"/>
            <a:ext cx="1828800" cy="23774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7223760"/>
            <a:ext cx="1828800" cy="237744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3000" y="7498080"/>
            <a:ext cx="640080" cy="118872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97864" y="7571232"/>
            <a:ext cx="530352" cy="1042416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9098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Mobile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7223760"/>
            <a:ext cx="1828800" cy="23774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14600" y="7223760"/>
            <a:ext cx="1828800" cy="237744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26080" y="7498080"/>
            <a:ext cx="1005840" cy="118872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80944" y="7571232"/>
            <a:ext cx="896112" cy="1042416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9098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Tablet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7223760"/>
            <a:ext cx="1828800" cy="23774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0560" y="7223760"/>
            <a:ext cx="1828800" cy="237744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09160" y="7498080"/>
            <a:ext cx="1371600" cy="91440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64024" y="7571232"/>
            <a:ext cx="1261872" cy="768096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9098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Desktop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98755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8FAFF"/>
                </a:solidFill>
                <a:latin typeface="Helvetica Neue"/>
              </a:rPr>
              <a:t>No app install. No friction.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10607040"/>
            <a:ext cx="182880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06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828800"/>
            <a:ext cx="2377440" cy="41148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288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GOODBYE CHAOS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7B2CFF"/>
                    </a:gs>
                    <a:gs pos="100000">
                      <a:srgbClr val="0057FF"/>
                    </a:gs>
                  </a:gsLst>
                  <a:lin ang="2700000" scaled="0"/>
                </a:gradFill>
              </a:rPr>
              <a:t>No messy</a:t>
            </a:r>
          </a:p>
          <a:p>
            <a:pPr algn="ctr">
              <a:lnSpc>
                <a:spcPct val="105000"/>
              </a:lnSpc>
            </a:pPr>
            <a:r>
              <a:rPr sz="58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7B2CFF"/>
                    </a:gs>
                    <a:gs pos="100000">
                      <a:srgbClr val="0057FF"/>
                    </a:gs>
                  </a:gsLst>
                  <a:lin ang="2700000" scaled="0"/>
                </a:gradFill>
              </a:rPr>
              <a:t>screenshots.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6126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No endless chats.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217920"/>
            <a:ext cx="5760720" cy="45720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6217920"/>
            <a:ext cx="5760720" cy="45720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500">
                <a:solidFill>
                  <a:srgbClr val="FF4D8D"/>
                </a:solidFill>
                <a:latin typeface="Helvetica Neue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64465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8FAFF"/>
                </a:solidFill>
                <a:latin typeface="Helvetica Neue"/>
              </a:rPr>
              <a:t>WITH FRAMEDROPS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6949440"/>
            <a:ext cx="18288" cy="3566160"/>
          </a:xfrm>
          <a:prstGeom prst="rect">
            <a:avLst/>
          </a:prstGeom>
          <a:solidFill>
            <a:srgbClr val="1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738835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722376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6C2E0"/>
                </a:solidFill>
                <a:latin typeface="Helvetica Neue"/>
              </a:rPr>
              <a:t>“Send pic 87 again”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738835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7223760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One clean link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8046720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78821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6C2E0"/>
                </a:solidFill>
                <a:latin typeface="Helvetica Neue"/>
              </a:rPr>
              <a:t>WhatsApp clutter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8046720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78821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Just heart it ♥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8705088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854049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6C2E0"/>
                </a:solidFill>
                <a:latin typeface="Helvetica Neue"/>
              </a:rPr>
              <a:t>Lost screenshots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8705088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854049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Auto-saved picks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9363456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9198864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6C2E0"/>
                </a:solidFill>
                <a:latin typeface="Helvetica Neue"/>
              </a:rPr>
              <a:t>Confused selections</a:t>
            </a:r>
          </a:p>
        </p:txBody>
      </p:sp>
      <p:sp>
        <p:nvSpPr>
          <p:cNvPr id="35" name="Oval 34"/>
          <p:cNvSpPr/>
          <p:nvPr/>
        </p:nvSpPr>
        <p:spPr>
          <a:xfrm>
            <a:off x="3657600" y="9363456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9198864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Crystal clear list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10021824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985723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6C2E0"/>
                </a:solidFill>
                <a:latin typeface="Helvetica Neue"/>
              </a:rPr>
              <a:t>Endless follow-ups</a:t>
            </a:r>
          </a:p>
        </p:txBody>
      </p:sp>
      <p:sp>
        <p:nvSpPr>
          <p:cNvPr id="39" name="Oval 38"/>
          <p:cNvSpPr/>
          <p:nvPr/>
        </p:nvSpPr>
        <p:spPr>
          <a:xfrm>
            <a:off x="3657600" y="10021824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985723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Done in one tap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07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737360"/>
            <a:ext cx="2011680" cy="41148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7373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CLIENT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Clients simply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7B2CFF"/>
                    </a:gs>
                    <a:gs pos="100000">
                      <a:srgbClr val="0057FF"/>
                    </a:gs>
                  </a:gsLst>
                  <a:lin ang="2700000" scaled="0"/>
                </a:gradFill>
              </a:rPr>
              <a:t>heart</a:t>
            </a:r>
          </a:p>
        </p:txBody>
      </p:sp>
      <p:sp>
        <p:nvSpPr>
          <p:cNvPr id="16" name="Oval 15"/>
          <p:cNvSpPr/>
          <p:nvPr/>
        </p:nvSpPr>
        <p:spPr>
          <a:xfrm>
            <a:off x="2514600" y="5303520"/>
            <a:ext cx="1828800" cy="1828800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50000">
                <a:srgbClr val="7B2CFF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rt 16"/>
          <p:cNvSpPr/>
          <p:nvPr/>
        </p:nvSpPr>
        <p:spPr>
          <a:xfrm>
            <a:off x="2788920" y="5623560"/>
            <a:ext cx="1280160" cy="1143000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74066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the photos they want.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8595360"/>
            <a:ext cx="2377440" cy="292608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8595360"/>
            <a:ext cx="2377440" cy="292608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50008" y="8705088"/>
            <a:ext cx="2157984" cy="2706624"/>
          </a:xfrm>
          <a:prstGeom prst="roundRect">
            <a:avLst/>
          </a:prstGeom>
          <a:gradFill flip="none" rotWithShape="1">
            <a:gsLst>
              <a:gs pos="0">
                <a:srgbClr val="101F42"/>
              </a:gs>
              <a:gs pos="100000">
                <a:srgbClr val="1A1244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48609" y="8668512"/>
            <a:ext cx="760780" cy="164592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41448" y="9034272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15056" y="9034272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art 24"/>
          <p:cNvSpPr/>
          <p:nvPr/>
        </p:nvSpPr>
        <p:spPr>
          <a:xfrm>
            <a:off x="3541776" y="9460992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88664" y="9034272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41448" y="9707880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art 27"/>
          <p:cNvSpPr/>
          <p:nvPr/>
        </p:nvSpPr>
        <p:spPr>
          <a:xfrm>
            <a:off x="2868168" y="10134600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15056" y="9707880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88664" y="9707880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rt 30"/>
          <p:cNvSpPr/>
          <p:nvPr/>
        </p:nvSpPr>
        <p:spPr>
          <a:xfrm>
            <a:off x="4215384" y="10134600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441448" y="10381488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115056" y="10381488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art 33"/>
          <p:cNvSpPr/>
          <p:nvPr/>
        </p:nvSpPr>
        <p:spPr>
          <a:xfrm>
            <a:off x="3541776" y="10808208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88664" y="10381488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41448" y="11055096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art 36"/>
          <p:cNvSpPr/>
          <p:nvPr/>
        </p:nvSpPr>
        <p:spPr>
          <a:xfrm>
            <a:off x="2868168" y="11481816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15056" y="11055096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88664" y="11055096"/>
            <a:ext cx="627888" cy="62788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art 39"/>
          <p:cNvSpPr/>
          <p:nvPr/>
        </p:nvSpPr>
        <p:spPr>
          <a:xfrm>
            <a:off x="4215384" y="11481816"/>
            <a:ext cx="164592" cy="14630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08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554480"/>
            <a:ext cx="2377440" cy="41148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5544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PRO MAGIC 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8600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Helvetica Neue"/>
              </a:rPr>
              <a:t>Then Framedrops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6126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transfers your</a:t>
            </a:r>
          </a:p>
          <a:p>
            <a:pPr algn="ctr">
              <a:lnSpc>
                <a:spcPct val="105000"/>
              </a:lnSpc>
            </a:pPr>
            <a:r>
              <a:rPr sz="44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originals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B6C2E0"/>
                </a:solidFill>
                <a:latin typeface="Helvetica Neue"/>
              </a:rPr>
              <a:t>straight into your folders.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400800"/>
            <a:ext cx="2560320" cy="23774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6400800"/>
            <a:ext cx="2560320" cy="237744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400">
                <a:solidFill>
                  <a:srgbClr val="FF4D8D"/>
                </a:solidFill>
                <a:latin typeface="Helvetica Neue"/>
              </a:rPr>
              <a:t>SELECTED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9037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1249680" y="7421880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50848" y="69037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art 22"/>
          <p:cNvSpPr/>
          <p:nvPr/>
        </p:nvSpPr>
        <p:spPr>
          <a:xfrm>
            <a:off x="1969008" y="7421880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70176" y="6903720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art 24"/>
          <p:cNvSpPr/>
          <p:nvPr/>
        </p:nvSpPr>
        <p:spPr>
          <a:xfrm>
            <a:off x="2688336" y="7421880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7623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rt 26"/>
          <p:cNvSpPr/>
          <p:nvPr/>
        </p:nvSpPr>
        <p:spPr>
          <a:xfrm>
            <a:off x="1249680" y="8141208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50848" y="7623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art 28"/>
          <p:cNvSpPr/>
          <p:nvPr/>
        </p:nvSpPr>
        <p:spPr>
          <a:xfrm>
            <a:off x="1969008" y="8141208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70176" y="7623048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rt 30"/>
          <p:cNvSpPr/>
          <p:nvPr/>
        </p:nvSpPr>
        <p:spPr>
          <a:xfrm>
            <a:off x="2688336" y="8141208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834237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art 32"/>
          <p:cNvSpPr/>
          <p:nvPr/>
        </p:nvSpPr>
        <p:spPr>
          <a:xfrm>
            <a:off x="1249680" y="8860536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450848" y="834237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art 34"/>
          <p:cNvSpPr/>
          <p:nvPr/>
        </p:nvSpPr>
        <p:spPr>
          <a:xfrm>
            <a:off x="1969008" y="8860536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170176" y="8342376"/>
            <a:ext cx="664464" cy="664464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art 36"/>
          <p:cNvSpPr/>
          <p:nvPr/>
        </p:nvSpPr>
        <p:spPr>
          <a:xfrm>
            <a:off x="2688336" y="8860536"/>
            <a:ext cx="118872" cy="10058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2788920" y="7269480"/>
            <a:ext cx="1280160" cy="640080"/>
          </a:xfrm>
          <a:prstGeom prst="rightArrow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80010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B6C2E0"/>
                </a:solidFill>
                <a:latin typeface="Helvetica Neue"/>
              </a:rPr>
              <a:t>on your device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94760" y="6400800"/>
            <a:ext cx="2560320" cy="237744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794760" y="6400800"/>
            <a:ext cx="2560320" cy="237744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0057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65653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400">
                <a:solidFill>
                  <a:srgbClr val="FF8A3D"/>
                </a:solidFill>
                <a:latin typeface="Helvetica Neue"/>
              </a:rPr>
              <a:t>YOUR FOLDER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7040880"/>
            <a:ext cx="594360" cy="164592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06240" y="7159752"/>
            <a:ext cx="1645920" cy="118872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8138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/Sneha-Rohan/Selected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84124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B6C2E0"/>
                </a:solidFill>
                <a:latin typeface="Helvetica Neue"/>
              </a:rPr>
              <a:t>124 originals · ready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9144000"/>
            <a:ext cx="5852160" cy="5943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9144000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8FAFF"/>
                </a:solidFill>
                <a:latin typeface="Helvetica Neue"/>
              </a:rPr>
              <a:t>⚡  Local transfer  •  Originals never re-downloaded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09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1463040" cy="384048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FFFFFF"/>
                </a:solidFill>
                <a:latin typeface="Helvetica Neue"/>
              </a:rPr>
              <a:t>STEP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GET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payments.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Right inside the album.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5760720" cy="23774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F8FAFF"/>
                </a:solidFill>
                <a:latin typeface="Helvetica Neue"/>
              </a:rPr>
              <a:t>INVOICE  ·  SNEHA &amp; ROHAN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Helvetica Neue"/>
              </a:rPr>
              <a:t>₹ 42,000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903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8FAFF"/>
                </a:solidFill>
                <a:latin typeface="Helvetica Neue"/>
              </a:rPr>
              <a:t>Wedding · Final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5504688"/>
            <a:ext cx="1097280" cy="411480"/>
          </a:xfrm>
          <a:prstGeom prst="round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8FA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5504688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200">
                <a:solidFill>
                  <a:srgbClr val="7B2CFF"/>
                </a:solidFill>
                <a:latin typeface="Helvetica Neue"/>
              </a:rPr>
              <a:t>PAID  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7955279"/>
            <a:ext cx="182880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7955279"/>
            <a:ext cx="182880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8700" y="8229599"/>
            <a:ext cx="868680" cy="8686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50315" y="8472829"/>
            <a:ext cx="625449" cy="3822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0315" y="8559697"/>
            <a:ext cx="625449" cy="60807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02436" y="8681312"/>
            <a:ext cx="138988" cy="104241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91897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UPI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950975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latin typeface="Helvetica Neue"/>
                <a:gradFill>
                  <a:gsLst>
                    <a:gs pos="0">
                      <a:srgbClr val="0057FF"/>
                    </a:gs>
                    <a:gs pos="100000">
                      <a:srgbClr val="7B2CFF"/>
                    </a:gs>
                  </a:gsLst>
                  <a:lin ang="0" scaled="0"/>
                </a:gradFill>
              </a:rPr>
              <a:t>₹ 18,000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7955279"/>
            <a:ext cx="182880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14600" y="7955279"/>
            <a:ext cx="182880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94660" y="8229599"/>
            <a:ext cx="868680" cy="86868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ightning Bolt 34"/>
          <p:cNvSpPr/>
          <p:nvPr/>
        </p:nvSpPr>
        <p:spPr>
          <a:xfrm>
            <a:off x="3255263" y="8385961"/>
            <a:ext cx="347472" cy="555955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91897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Razorpay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950975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latin typeface="Helvetica Neue"/>
                <a:gradFill>
                  <a:gsLst>
                    <a:gs pos="0">
                      <a:srgbClr val="7B2CFF"/>
                    </a:gs>
                    <a:gs pos="100000">
                      <a:srgbClr val="FF4D8D"/>
                    </a:gs>
                  </a:gsLst>
                  <a:lin ang="0" scaled="0"/>
                </a:gradFill>
              </a:rPr>
              <a:t>₹ 18,000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7955279"/>
            <a:ext cx="1828800" cy="21945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80560" y="7955279"/>
            <a:ext cx="1828800" cy="219456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60620" y="8229599"/>
            <a:ext cx="868680" cy="86868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18900000">
            <a:off x="5151729" y="8646565"/>
            <a:ext cx="243230" cy="868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5325465" y="8542323"/>
            <a:ext cx="364845" cy="868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91897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Bank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9509759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latin typeface="Helvetica Neue"/>
                <a:gradFill>
                  <a:gsLst>
                    <a:gs pos="0">
                      <a:srgbClr val="FF4D8D"/>
                    </a:gs>
                    <a:gs pos="100000">
                      <a:srgbClr val="FF8A3D"/>
                    </a:gs>
                  </a:gsLst>
                  <a:lin ang="0" scaled="0"/>
                </a:gradFill>
              </a:rPr>
              <a:t>₹  6,000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105156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B6C2E0"/>
                </a:solidFill>
                <a:latin typeface="Helvetica Neue"/>
              </a:rPr>
              <a:t>Razorpay · UPI · 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10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1463040" cy="384048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173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FFFFFF"/>
                </a:solidFill>
                <a:latin typeface="Helvetica Neue"/>
              </a:rPr>
              <a:t>STEP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600">
                <a:solidFill>
                  <a:srgbClr val="B6C2E0"/>
                </a:solidFill>
                <a:latin typeface="Helvetica Neue"/>
              </a:rPr>
              <a:t>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 Neue"/>
              </a:rPr>
              <a:t>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the finals.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6C2E0"/>
                </a:solidFill>
                <a:latin typeface="Helvetica Neue"/>
              </a:rPr>
              <a:t>Edited. Polished.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5120640"/>
            <a:ext cx="3291840" cy="5120640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83080" y="5120640"/>
            <a:ext cx="3291840" cy="5120640"/>
          </a:xfrm>
          <a:prstGeom prst="roundRect">
            <a:avLst/>
          </a:prstGeom>
          <a:noFill/>
          <a:ln w="2540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92808" y="5230368"/>
            <a:ext cx="3072384" cy="4901184"/>
          </a:xfrm>
          <a:prstGeom prst="roundRect">
            <a:avLst/>
          </a:prstGeom>
          <a:gradFill flip="none" rotWithShape="1">
            <a:gsLst>
              <a:gs pos="0">
                <a:srgbClr val="101F42"/>
              </a:gs>
              <a:gs pos="100000">
                <a:srgbClr val="1A1244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02305" y="5193792"/>
            <a:ext cx="1053388" cy="164592"/>
          </a:xfrm>
          <a:prstGeom prst="round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88920" y="6144768"/>
            <a:ext cx="1280160" cy="128016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8900000">
            <a:off x="3108960" y="6821424"/>
            <a:ext cx="347472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3319272" y="6620256"/>
            <a:ext cx="54864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2808" y="760780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7973568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B6C2E0"/>
                </a:solidFill>
                <a:latin typeface="Helvetica Neue"/>
              </a:rPr>
              <a:t>1,248 originals • 124 selected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060704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10698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latin typeface="Helvetica Neue"/>
                <a:gradFill>
                  <a:gsLst>
                    <a:gs pos="0">
                      <a:srgbClr val="0057FF"/>
                    </a:gs>
                    <a:gs pos="100000">
                      <a:srgbClr val="7B2CFF"/>
                    </a:gs>
                  </a:gsLst>
                  <a:lin ang="0" scaled="0"/>
                </a:gradFill>
              </a:rPr>
              <a:t>124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11109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Originals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1060704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10698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latin typeface="Helvetica Neue"/>
                <a:gradFill>
                  <a:gsLst>
                    <a:gs pos="0">
                      <a:srgbClr val="7B2CFF"/>
                    </a:gs>
                    <a:gs pos="100000">
                      <a:srgbClr val="FF4D8D"/>
                    </a:gs>
                  </a:gsLst>
                  <a:lin ang="0" scaled="0"/>
                </a:gradFill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11109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Quality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10607040"/>
            <a:ext cx="1828800" cy="86868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10698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latin typeface="Helvetica Neue"/>
                <a:gradFill>
                  <a:gsLst>
                    <a:gs pos="0">
                      <a:srgbClr val="FF4D8D"/>
                    </a:gs>
                    <a:gs pos="100000">
                      <a:srgbClr val="FF8A3D"/>
                    </a:gs>
                  </a:gsLst>
                  <a:lin ang="0" scaled="0"/>
                </a:gradFill>
              </a:rPr>
              <a:t>1 click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11109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200">
                <a:solidFill>
                  <a:srgbClr val="B6C2E0"/>
                </a:solidFill>
                <a:latin typeface="Helvetica Neue"/>
              </a:rPr>
              <a:t>Sent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11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926080"/>
            <a:ext cx="1828800" cy="4114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926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PROJECT WRAPPED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11480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0" b="1" spc="-10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8778240"/>
            <a:ext cx="5486400" cy="27432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8778240"/>
            <a:ext cx="5486400" cy="27432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9125712"/>
            <a:ext cx="274320" cy="27432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9125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9052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Uploaded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9582912"/>
            <a:ext cx="274320" cy="27432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9582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9509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Shared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10040112"/>
            <a:ext cx="274320" cy="27432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100401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99669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Selected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10497312"/>
            <a:ext cx="274320" cy="27432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04973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10424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Transferred</a:t>
            </a:r>
          </a:p>
        </p:txBody>
      </p:sp>
      <p:sp>
        <p:nvSpPr>
          <p:cNvPr id="29" name="Oval 28"/>
          <p:cNvSpPr/>
          <p:nvPr/>
        </p:nvSpPr>
        <p:spPr>
          <a:xfrm>
            <a:off x="1051560" y="10954512"/>
            <a:ext cx="274320" cy="27432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10954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10881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Paid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12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828800"/>
            <a:ext cx="2377440" cy="41148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288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743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47472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>
                <a:latin typeface="Helvetica Neue"/>
                <a:gradFill>
                  <a:gsLst>
                    <a:gs pos="0">
                      <a:srgbClr val="FF4D8D"/>
                    </a:gs>
                    <a:gs pos="50000">
                      <a:srgbClr val="FF8A3D"/>
                    </a:gs>
                    <a:gs pos="100000">
                      <a:srgbClr val="7B2CFF"/>
                    </a:gs>
                  </a:gsLst>
                  <a:lin ang="2700000" scaled="0"/>
                </a:gradFill>
              </a:rPr>
              <a:t>chaos.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3949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12648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shoots.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804672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877824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0" b="1">
                <a:latin typeface="Helvetica Neue"/>
                <a:gradFill>
                  <a:gsLst>
                    <a:gs pos="0">
                      <a:srgbClr val="7B2CFF"/>
                    </a:gs>
                    <a:gs pos="50000">
                      <a:srgbClr val="FF4D8D"/>
                    </a:gs>
                    <a:gs pos="100000">
                      <a:srgbClr val="FF8A3D"/>
                    </a:gs>
                  </a:gsLst>
                  <a:lin ang="2700000" scaled="0"/>
                </a:gradFill>
              </a:rPr>
              <a:t>business.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10698480"/>
            <a:ext cx="219456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13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828800"/>
            <a:ext cx="2194560" cy="4114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828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WHO IT’S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0" b="1" spc="-3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Built for photographers</a:t>
            </a:r>
          </a:p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Helvetica Neue"/>
              </a:rPr>
              <a:t>who move fast.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03504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603504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4420" y="635508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14323" y="6603796"/>
            <a:ext cx="497434" cy="326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4226" y="6658202"/>
            <a:ext cx="217627" cy="217627"/>
          </a:xfrm>
          <a:prstGeom prst="ellipse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8633" y="6712609"/>
            <a:ext cx="108813" cy="10881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92047" y="6541617"/>
            <a:ext cx="170992" cy="6217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7269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Wedding pros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603504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4600" y="603504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40380" y="635508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ightning Bolt 26"/>
          <p:cNvSpPr/>
          <p:nvPr/>
        </p:nvSpPr>
        <p:spPr>
          <a:xfrm>
            <a:off x="3273552" y="6494983"/>
            <a:ext cx="310896" cy="497433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7269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Event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603504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603504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06340" y="635508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rt 31"/>
          <p:cNvSpPr/>
          <p:nvPr/>
        </p:nvSpPr>
        <p:spPr>
          <a:xfrm>
            <a:off x="5146243" y="6526072"/>
            <a:ext cx="497433" cy="435254"/>
          </a:xfrm>
          <a:prstGeom prst="hear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7269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Family shoots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800100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800100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FF8A3D"/>
                </a:gs>
                <a:gs pos="100000">
                  <a:srgbClr val="0057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74420" y="832104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0057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14323" y="8554212"/>
            <a:ext cx="326440" cy="233172"/>
          </a:xfrm>
          <a:prstGeom prst="round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276502" y="8600846"/>
            <a:ext cx="326440" cy="233172"/>
          </a:xfrm>
          <a:prstGeom prst="round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38681" y="8647480"/>
            <a:ext cx="326440" cy="23317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9235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Brand &amp; product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4600" y="800100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14600" y="800100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040380" y="832104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ular Callout 43"/>
          <p:cNvSpPr/>
          <p:nvPr/>
        </p:nvSpPr>
        <p:spPr>
          <a:xfrm>
            <a:off x="3149193" y="8492032"/>
            <a:ext cx="559612" cy="388620"/>
          </a:xfrm>
          <a:prstGeom prst="wedgeRoundRectCallo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73552" y="8647480"/>
            <a:ext cx="62179" cy="62179"/>
          </a:xfrm>
          <a:prstGeom prst="ellipse">
            <a:avLst/>
          </a:prstGeom>
          <a:solidFill>
            <a:srgbClr val="7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97910" y="8647480"/>
            <a:ext cx="62179" cy="62179"/>
          </a:xfrm>
          <a:prstGeom prst="ellipse">
            <a:avLst/>
          </a:prstGeom>
          <a:solidFill>
            <a:srgbClr val="7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22268" y="8647480"/>
            <a:ext cx="62179" cy="62179"/>
          </a:xfrm>
          <a:prstGeom prst="ellipse">
            <a:avLst/>
          </a:prstGeom>
          <a:solidFill>
            <a:srgbClr val="7B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14600" y="9235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Solo creators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8001000"/>
            <a:ext cx="1828800" cy="182880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80560" y="8001000"/>
            <a:ext cx="1828800" cy="182880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7B2CFF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06340" y="8321040"/>
            <a:ext cx="777240" cy="777240"/>
          </a:xfrm>
          <a:prstGeom prst="roundRect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146243" y="8538667"/>
            <a:ext cx="248716" cy="77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130698" y="8600846"/>
            <a:ext cx="528523" cy="31089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60" y="9235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Studio crews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10424160"/>
            <a:ext cx="5852160" cy="59436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10424160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F8FAFF"/>
                </a:solidFill>
                <a:latin typeface="Helvetica Neue"/>
              </a:rPr>
              <a:t>Fast. Beautiful. Made in India.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14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377440"/>
            <a:ext cx="1463040" cy="41148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377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FFFFFF"/>
                </a:solidFill>
                <a:latin typeface="Helvetica Neue"/>
              </a:rPr>
              <a:t>START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29184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Helvetica Neue"/>
              </a:rPr>
              <a:t>Try Framedrops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297680"/>
            <a:ext cx="68580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200" b="1" spc="-4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</a:t>
            </a:r>
          </a:p>
          <a:p>
            <a:pPr algn="ctr">
              <a:lnSpc>
                <a:spcPct val="105000"/>
              </a:lnSpc>
            </a:pPr>
            <a:r>
              <a:rPr sz="9200" b="1" spc="-4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7315200"/>
            <a:ext cx="4206240" cy="914400"/>
          </a:xfrm>
          <a:prstGeom prst="roundRect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73152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 spc="200">
                <a:solidFill>
                  <a:srgbClr val="FFFFFF"/>
                </a:solidFill>
                <a:latin typeface="Helvetica Neue"/>
              </a:rPr>
              <a:t>Start free 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8686800"/>
            <a:ext cx="1828800" cy="10972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8686800"/>
            <a:ext cx="1828800" cy="109728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0057FF"/>
                </a:gs>
                <a:gs pos="100000">
                  <a:srgbClr val="7B2CFF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8887968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100000">
                <a:srgbClr val="7B2CFF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9189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Free to start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8686800"/>
            <a:ext cx="1828800" cy="10972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14600" y="8686800"/>
            <a:ext cx="1828800" cy="109728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37560" y="8887968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9189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No card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8686800"/>
            <a:ext cx="1828800" cy="109728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8686800"/>
            <a:ext cx="1828800" cy="1097280"/>
          </a:xfrm>
          <a:prstGeom prst="roundRect">
            <a:avLst/>
          </a:prstGeom>
          <a:noFill/>
          <a:ln w="15875" cap="rnd">
            <a:gradFill>
              <a:gsLst>
                <a:gs pos="0">
                  <a:srgbClr val="FF4D8D"/>
                </a:gs>
                <a:gs pos="100000">
                  <a:srgbClr val="FF8A3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8887968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FF4D8D"/>
              </a:gs>
              <a:gs pos="100000">
                <a:srgbClr val="FF8A3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91897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Setup in 2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102412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400">
                <a:solidFill>
                  <a:srgbClr val="B6C2E0"/>
                </a:solidFill>
                <a:latin typeface="Helvetica Neue"/>
              </a:rPr>
              <a:t>@framedrops  ·  framedrops.in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10835640"/>
            <a:ext cx="219456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5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gradFill flip="none" rotWithShape="1">
            <a:gsLst>
              <a:gs pos="0">
                <a:srgbClr val="051026"/>
              </a:gs>
              <a:gs pos="100000">
                <a:srgbClr val="081B3A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7B2C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0" y="1371600"/>
            <a:ext cx="3657600" cy="3657600"/>
          </a:xfrm>
          <a:prstGeom prst="ellipse">
            <a:avLst/>
          </a:prstGeom>
          <a:solidFill>
            <a:srgbClr val="0057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645920" y="7406640"/>
            <a:ext cx="4389120" cy="4389120"/>
          </a:xfrm>
          <a:prstGeom prst="ellipse">
            <a:avLst/>
          </a:prstGeom>
          <a:solidFill>
            <a:srgbClr val="FF4D8D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9235440"/>
            <a:ext cx="3474720" cy="3474720"/>
          </a:xfrm>
          <a:prstGeom prst="ellipse">
            <a:avLst/>
          </a:prstGeom>
          <a:solidFill>
            <a:srgbClr val="FF8A3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57200"/>
            <a:ext cx="20116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Frame</a:t>
            </a:r>
            <a:r>
              <a:rPr sz="1600" b="1">
                <a:solidFill>
                  <a:srgbClr val="FFFFFF"/>
                </a:solidFill>
                <a:latin typeface="Helvetica Neue"/>
              </a:rPr>
              <a:t>drops</a:t>
            </a:r>
          </a:p>
        </p:txBody>
      </p:sp>
      <p:sp>
        <p:nvSpPr>
          <p:cNvPr id="9" name="Oval 8"/>
          <p:cNvSpPr/>
          <p:nvPr/>
        </p:nvSpPr>
        <p:spPr>
          <a:xfrm>
            <a:off x="2103120" y="576072"/>
            <a:ext cx="164592" cy="164592"/>
          </a:xfrm>
          <a:prstGeom prst="ellipse">
            <a:avLst/>
          </a:prstGeom>
          <a:gradFill flip="none" rotWithShape="1"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27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493776"/>
            <a:ext cx="868680" cy="329184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493776"/>
            <a:ext cx="868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300">
                <a:solidFill>
                  <a:srgbClr val="B6C2E0"/>
                </a:solidFill>
                <a:latin typeface="Helvetica Neue"/>
              </a:rPr>
              <a:t>15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5720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0" b="1" spc="-20">
                <a:latin typeface="Helvetica Neue"/>
                <a:gradFill>
                  <a:gsLst>
                    <a:gs pos="0">
                      <a:srgbClr val="0057FF"/>
                    </a:gs>
                    <a:gs pos="50000">
                      <a:srgbClr val="7B2CFF"/>
                    </a:gs>
                    <a:gs pos="100000">
                      <a:srgbClr val="FF4D8D"/>
                    </a:gs>
                  </a:gsLst>
                  <a:lin ang="2700000" scaled="0"/>
                </a:gradFill>
              </a:rPr>
              <a:t>Framedrops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6583680"/>
            <a:ext cx="2011680" cy="54864"/>
          </a:xfrm>
          <a:prstGeom prst="roundRect">
            <a:avLst/>
          </a:prstGeom>
          <a:gradFill>
            <a:gsLst>
              <a:gs pos="0">
                <a:srgbClr val="0057FF"/>
              </a:gs>
              <a:gs pos="50000">
                <a:srgbClr val="7B2CFF"/>
              </a:gs>
              <a:gs pos="100000">
                <a:srgbClr val="FF4D8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70408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F8FAFF"/>
                </a:solidFill>
                <a:latin typeface="Helvetica Neue"/>
              </a:rPr>
              <a:t>For photographers who move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8229600"/>
            <a:ext cx="5029200" cy="1188720"/>
          </a:xfrm>
          <a:prstGeom prst="roundRect">
            <a:avLst/>
          </a:prstGeom>
          <a:solidFill>
            <a:srgbClr val="10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8229600"/>
            <a:ext cx="5029200" cy="1188720"/>
          </a:xfrm>
          <a:prstGeom prst="roundRect">
            <a:avLst/>
          </a:prstGeom>
          <a:noFill/>
          <a:ln w="19050" cap="rnd">
            <a:gradFill>
              <a:gsLst>
                <a:gs pos="0">
                  <a:srgbClr val="0057FF"/>
                </a:gs>
                <a:gs pos="50000">
                  <a:srgbClr val="7B2CFF"/>
                </a:gs>
                <a:gs pos="100000">
                  <a:srgbClr val="FF4D8D"/>
                </a:gs>
              </a:gsLst>
              <a:lin ang="27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8412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500">
                <a:solidFill>
                  <a:srgbClr val="B6C2E0"/>
                </a:solidFill>
                <a:latin typeface="Helvetica Neue"/>
              </a:rPr>
              <a:t>FOLLOW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7325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latin typeface="Helvetica Neue"/>
                <a:gradFill>
                  <a:gsLst>
                    <a:gs pos="0">
                      <a:srgbClr val="0057FF"/>
                    </a:gs>
                    <a:gs pos="100000">
                      <a:srgbClr val="FF4D8D"/>
                    </a:gs>
                  </a:gsLst>
                  <a:lin ang="0" scaled="0"/>
                </a:gradFill>
              </a:rPr>
              <a:t>@framedrops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100584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400">
                <a:solidFill>
                  <a:srgbClr val="F8FAFF"/>
                </a:solidFill>
                <a:latin typeface="Helvetica Neue"/>
              </a:rPr>
              <a:t>framedrops.in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105156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spc="300">
                <a:solidFill>
                  <a:srgbClr val="B6C2E0"/>
                </a:solidFill>
                <a:latin typeface="Helvetica Neue"/>
              </a:rPr>
              <a:t>Made with ♥ for photographers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