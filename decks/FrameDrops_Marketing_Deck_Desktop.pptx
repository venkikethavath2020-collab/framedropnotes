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-1828800"/>
            <a:ext cx="7315200" cy="7315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8229600" y="5669280"/>
            <a:ext cx="4572000" cy="365760"/>
          </a:xfrm>
          <a:prstGeom prst="parallelogram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FRAMEDROPS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🇮🇳  MADE IN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6858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Tired of</a:t>
            </a:r>
          </a:p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Google Drive</a:t>
            </a:r>
          </a:p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+ paper lists?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6858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94A3B8"/>
                </a:solidFill>
                <a:latin typeface="Inter"/>
              </a:rPr>
              <a:t>The proper photo-selection workflow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4A3B8"/>
                </a:solidFill>
                <a:latin typeface="Inter"/>
              </a:rPr>
              <a:t>for Indian photographers.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103120"/>
            <a:ext cx="3200400" cy="411480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66760" y="1965960"/>
            <a:ext cx="3200400" cy="41148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2004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7C3AED"/>
                </a:solidFill>
                <a:latin typeface="Inter"/>
              </a:rPr>
              <a:t>STUDIO  •  WEDDING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231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Inter"/>
              </a:rPr>
              <a:t>Anjali + Rohan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10896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310896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rt 18"/>
          <p:cNvSpPr/>
          <p:nvPr/>
        </p:nvSpPr>
        <p:spPr>
          <a:xfrm>
            <a:off x="10012680" y="3154680"/>
            <a:ext cx="182880" cy="164592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32720" y="310896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20" y="374904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art 21"/>
          <p:cNvSpPr/>
          <p:nvPr/>
        </p:nvSpPr>
        <p:spPr>
          <a:xfrm>
            <a:off x="9098280" y="3794760"/>
            <a:ext cx="182880" cy="164592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0" y="374904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32720" y="374904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03920" y="438912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18320" y="438912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32720" y="4389120"/>
            <a:ext cx="822960" cy="54864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art 27"/>
          <p:cNvSpPr/>
          <p:nvPr/>
        </p:nvSpPr>
        <p:spPr>
          <a:xfrm>
            <a:off x="10927080" y="4434840"/>
            <a:ext cx="182880" cy="164592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0" y="5029199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18320" y="5029199"/>
            <a:ext cx="822960" cy="54864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art 30"/>
          <p:cNvSpPr/>
          <p:nvPr/>
        </p:nvSpPr>
        <p:spPr>
          <a:xfrm>
            <a:off x="10012680" y="5074919"/>
            <a:ext cx="182880" cy="164592"/>
          </a:xfrm>
          <a:prstGeom prst="hear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32720" y="5029199"/>
            <a:ext cx="822960" cy="54864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BD5E1"/>
                </a:solidFill>
                <a:latin typeface="Inter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E2E8F0"/>
                </a:solidFill>
                <a:latin typeface="Inter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F172A"/>
                </a:solidFill>
                <a:latin typeface="Inter"/>
              </a:rPr>
              <a:t>Sound familiar?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4748B"/>
                </a:solidFill>
                <a:latin typeface="Inter"/>
              </a:rPr>
              <a:t>The hidden tax of every Indian wedding shoot.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Upload 1,500 photos to Drive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30+ min waiting. Storage fills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79" y="365760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59" y="37947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59" y="425196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Share link on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59" y="46177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Client pinch-zooms on phone.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65760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39" y="37947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425196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Names on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61772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“IMG_2845, IMG_2912, IMG_3001…”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6636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WhatsApp the paper photo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2648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Or typed list. Or both.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79" y="516636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59" y="53035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59" y="576072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Decode the handwriting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59" y="612648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Search file-by-file. Miss one.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5166360"/>
            <a:ext cx="1874519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39" y="53035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5760720"/>
            <a:ext cx="1508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Repeat every wedding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612648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Forever.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3657600"/>
            <a:ext cx="4846320" cy="2880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3931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9E0B"/>
                </a:solidFill>
                <a:latin typeface="Inter"/>
              </a:rPr>
              <a:t>THE REAL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297680"/>
            <a:ext cx="4114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Inter"/>
              </a:rPr>
              <a:t>6+ hours</a:t>
            </a:r>
          </a:p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Inter"/>
              </a:rPr>
              <a:t>per wedding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760720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Inter"/>
              </a:rPr>
              <a:t>Time you could spend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Inter"/>
              </a:rPr>
              <a:t>on your next shoot.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Inter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E2E8F0"/>
                </a:solidFill>
                <a:latin typeface="Inter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F172A"/>
                </a:solidFill>
                <a:latin typeface="Inter"/>
              </a:rPr>
              <a:t>There's a better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4748B"/>
                </a:solidFill>
                <a:latin typeface="Inter"/>
              </a:rPr>
              <a:t>Every painful step, replaced by one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577840" cy="54864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7647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❌  THE OLD 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57600"/>
            <a:ext cx="5577840" cy="54864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377647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Inter"/>
              </a:rPr>
              <a:t>✅  FRAMEDROPS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Inter"/>
              </a:rPr>
              <a:t>Upload to Google Drive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Inter"/>
              </a:rPr>
              <a:t>Drag-drop — auto-compressed in browser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73168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18888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Inter"/>
              </a:rPr>
              <a:t>Client opens Drive on 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73168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18888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Inter"/>
              </a:rPr>
              <a:t>Mobile-first branded gallery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02936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248655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Inter"/>
              </a:rPr>
              <a:t>Names written on paper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202936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248655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Inter"/>
              </a:rPr>
              <a:t>One-tap heart on favorites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632703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78423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Inter"/>
              </a:rPr>
              <a:t>WhatsApp message with the 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632703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678423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Inter"/>
              </a:rPr>
              <a:t>Selections auto-saved to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62471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108191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Inter"/>
              </a:rPr>
              <a:t>You search file-by-file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6062471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6108191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Inter"/>
              </a:rPr>
              <a:t>Smart local transfer — names match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492239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537959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Inter"/>
              </a:rPr>
              <a:t>Looks like a freelancer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6492239"/>
            <a:ext cx="5577840" cy="384048"/>
          </a:xfrm>
          <a:prstGeom prst="roundRect">
            <a:avLst>
              <a:gd name="adj" fmla="val 15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6537959"/>
            <a:ext cx="5303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72A"/>
                </a:solidFill>
                <a:latin typeface="Inter"/>
              </a:rPr>
              <a:t>Looks like a pro studio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Inter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E2E8F0"/>
                </a:solidFill>
                <a:latin typeface="Inter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Shoot to selection in 3 simple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4748B"/>
                </a:solidFill>
                <a:latin typeface="Inter"/>
              </a:rPr>
              <a:t>No uploads to Drive. No paper. No decoding.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36576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AF5FF"/>
                </a:solidFill>
                <a:latin typeface="Inter"/>
              </a:rPr>
              <a:t>01</a:t>
            </a:r>
          </a:p>
        </p:txBody>
      </p:sp>
      <p:sp>
        <p:nvSpPr>
          <p:cNvPr id="13" name="Oval 12"/>
          <p:cNvSpPr/>
          <p:nvPr/>
        </p:nvSpPr>
        <p:spPr>
          <a:xfrm>
            <a:off x="3200400" y="40233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069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172A"/>
                </a:solidFill>
                <a:latin typeface="Inter"/>
              </a:rP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Drag-drop your shoot.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Auto-compressed in browser.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25 MB → 250 KB.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657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657600"/>
            <a:ext cx="36576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8862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AF5FF"/>
                </a:solidFill>
                <a:latin typeface="Inter"/>
              </a:rP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40233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4069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029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172A"/>
                </a:solidFill>
                <a:latin typeface="Inter"/>
              </a:rPr>
              <a:t>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5778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One branded gallery link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via WhatsApp.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Client taps to 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657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3657600"/>
            <a:ext cx="36576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88620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AF5FF"/>
                </a:solidFill>
                <a:latin typeface="Inter"/>
              </a:rPr>
              <a:t>03</a:t>
            </a:r>
          </a:p>
        </p:txBody>
      </p:sp>
      <p:sp>
        <p:nvSpPr>
          <p:cNvPr id="27" name="Oval 26"/>
          <p:cNvSpPr/>
          <p:nvPr/>
        </p:nvSpPr>
        <p:spPr>
          <a:xfrm>
            <a:off x="11064240" y="40233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4069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Inter"/>
              </a:rPr>
              <a:t>❤️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029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172A"/>
                </a:solidFill>
                <a:latin typeface="Inter"/>
              </a:rPr>
              <a:t>Get selections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57784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Client taps the heart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on favorites. You see the list —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no paper, no decoding.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Inter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0" y="-1828800"/>
            <a:ext cx="5486400" cy="5486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1F2A44"/>
                </a:solidFill>
                <a:latin typeface="Inter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BUILT IN INDIA  🇮🇳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5943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Made for the</a:t>
            </a:r>
          </a:p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Indian wedding.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4A3B8"/>
                </a:solidFill>
                <a:latin typeface="Inter"/>
              </a:rPr>
              <a:t>Not a US tool with INR pricing taped on.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94A3B8"/>
                </a:solidFill>
                <a:latin typeface="Inter"/>
              </a:rPr>
              <a:t>A product designed around how Indian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94A3B8"/>
                </a:solidFill>
                <a:latin typeface="Inter"/>
              </a:rPr>
              <a:t>photographers and clients actually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64592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1A243D"/>
          </a:solidFill>
          <a:ln w="19050">
            <a:solidFill>
              <a:srgbClr val="2C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🗣️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2860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Three 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060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Inter"/>
              </a:rPr>
              <a:t>English · Telugu · Hindi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64592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1A243D"/>
          </a:solidFill>
          <a:ln w="19050">
            <a:solidFill>
              <a:srgbClr val="2C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8288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2860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INR + GST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6060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Inter"/>
              </a:rPr>
              <a:t>Razorpay UPI checkout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24612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1A243D"/>
          </a:solidFill>
          <a:ln w="19050">
            <a:solidFill>
              <a:srgbClr val="2C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429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886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Mobile-first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2062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Inter"/>
              </a:rPr>
              <a:t>Your clients live on phones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324612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1A243D"/>
          </a:solidFill>
          <a:ln w="19050">
            <a:solidFill>
              <a:srgbClr val="2C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34290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886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Wallet payouts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42062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Inter"/>
              </a:rPr>
              <a:t>Any Indian bank via NEFT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484632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1A243D"/>
          </a:solidFill>
          <a:ln w="19050">
            <a:solidFill>
              <a:srgbClr val="2C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5029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4864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No monthly tax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8064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Inter"/>
              </a:rPr>
              <a:t>Pay only when you publish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4846320"/>
            <a:ext cx="2468880" cy="1463040"/>
          </a:xfrm>
          <a:prstGeom prst="roundRect">
            <a:avLst>
              <a:gd name="adj" fmla="val 10000"/>
            </a:avLst>
          </a:prstGeom>
          <a:solidFill>
            <a:srgbClr val="1A243D"/>
          </a:solidFill>
          <a:ln w="19050">
            <a:solidFill>
              <a:srgbClr val="2C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5029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54864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DPDP-aware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580644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4A3B8"/>
                </a:solidFill>
                <a:latin typeface="Inter"/>
              </a:rPr>
              <a:t>Your data stays yours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BD5E1"/>
                </a:solidFill>
                <a:latin typeface="Inter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E2E8F0"/>
                </a:solidFill>
                <a:latin typeface="Inter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F172A"/>
                </a:solidFill>
                <a:latin typeface="Inter"/>
              </a:rPr>
              <a:t>Simple, honest pricing.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Inter"/>
              </a:rPr>
              <a:t>Pay only when you publish. No monthly fees. No surprises.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96012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🚀 LAUNCH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Inter"/>
              </a:rPr>
              <a:t>Locked for the first 100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Inter"/>
              </a:rPr>
              <a:t>photographers.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Inter"/>
              </a:rPr>
              <a:t>Prices increase after.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🎁  First 300 images — FREE for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Inter"/>
              </a:rPr>
              <a:t>No credit card. 2-minute signup.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3657600" cy="2606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4748B"/>
                </a:solidFill>
                <a:latin typeface="Inter"/>
              </a:rPr>
              <a:t>STARTER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₹149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120640"/>
            <a:ext cx="12801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800" b="1" strike="sngStrike">
                <a:solidFill>
                  <a:srgbClr val="94A3B8"/>
                </a:solidFill>
                <a:latin typeface="Inter"/>
              </a:rPr>
              <a:t>₹199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Up to 1,000 photos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₹0.15 per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Pre-wedding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or reception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862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88620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393192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Inter"/>
              </a:rPr>
              <a:t>★  MOST POPULAR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976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WEDDING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SWEET-SPOT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93776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7C3AED"/>
                </a:solidFill>
                <a:latin typeface="Inter"/>
              </a:rPr>
              <a:t>₹229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212080"/>
            <a:ext cx="12801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800" b="1" strike="sngStrike">
                <a:solidFill>
                  <a:srgbClr val="94A3B8"/>
                </a:solidFill>
                <a:latin typeface="Inter"/>
              </a:rPr>
              <a:t>₹299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7150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Up to 2,000 photos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6035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₹0.11 per 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6400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Full wedding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day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023360"/>
            <a:ext cx="3657600" cy="2606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4748B"/>
                </a:solidFill>
                <a:latin typeface="Inter"/>
              </a:rPr>
              <a:t>WEDDING 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84632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F172A"/>
                </a:solidFill>
                <a:latin typeface="Inter"/>
              </a:rPr>
              <a:t>₹299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120640"/>
            <a:ext cx="128016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800" b="1" strike="sngStrike">
                <a:solidFill>
                  <a:srgbClr val="94A3B8"/>
                </a:solidFill>
                <a:latin typeface="Inter"/>
              </a:rPr>
              <a:t>₹399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56235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Inter"/>
              </a:rPr>
              <a:t>Up to 3,000 photos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943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₹0.10 per image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309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Big-fat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multi-day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Inter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0" y="-1828800"/>
            <a:ext cx="8229600" cy="82296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0" y="4572000"/>
            <a:ext cx="6400800" cy="64008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1F2A44"/>
                </a:solidFill>
                <a:latin typeface="Inter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0F172A"/>
                </a:solidFill>
                <a:latin typeface="Inter"/>
              </a:rPr>
              <a:t>LOOK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6400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Look like a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₹2-lakh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photographer.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400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3B8"/>
                </a:solidFill>
                <a:latin typeface="Inter"/>
              </a:rPr>
              <a:t>Even on your very first paid shoot.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3B8"/>
                </a:solidFill>
                <a:latin typeface="Inter"/>
              </a:rPr>
              <a:t>Even when you're learning the business 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45920"/>
            <a:ext cx="4389120" cy="4937760"/>
          </a:xfrm>
          <a:prstGeom prst="roundRect">
            <a:avLst>
              <a:gd name="adj" fmla="val 4000"/>
            </a:avLst>
          </a:prstGeom>
          <a:solidFill>
            <a:srgbClr val="1A243D"/>
          </a:solidFill>
          <a:ln w="19050">
            <a:solidFill>
              <a:srgbClr val="2C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828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Inter"/>
              </a:rPr>
              <a:t>INCLUDED ON EVERY ALBUM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242316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377440"/>
            <a:ext cx="274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9572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Custom studio branding on every gallery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320040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154680"/>
            <a:ext cx="274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172968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Watermarked, screenshot-protected previews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0" y="397763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931920"/>
            <a:ext cx="274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95020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Anti-download UI keeps your originals safe</a:t>
            </a:r>
          </a:p>
        </p:txBody>
      </p:sp>
      <p:sp>
        <p:nvSpPr>
          <p:cNvPr id="23" name="Oval 22"/>
          <p:cNvSpPr/>
          <p:nvPr/>
        </p:nvSpPr>
        <p:spPr>
          <a:xfrm>
            <a:off x="7680960" y="475487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4709159"/>
            <a:ext cx="274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72744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Clients see YOUR name — not 'Framedrops'</a:t>
            </a:r>
          </a:p>
        </p:txBody>
      </p:sp>
      <p:sp>
        <p:nvSpPr>
          <p:cNvPr id="26" name="Oval 25"/>
          <p:cNvSpPr/>
          <p:nvPr/>
        </p:nvSpPr>
        <p:spPr>
          <a:xfrm>
            <a:off x="7680960" y="5532119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5486399"/>
            <a:ext cx="2743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504687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Looks pro on day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BD5E1"/>
                </a:solidFill>
                <a:latin typeface="Inter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E2E8F0"/>
                </a:solidFill>
                <a:latin typeface="Inter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₹149 pays for itself in 15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Inter"/>
              </a:rPr>
              <a:t>Real numbers from photographers using gallery-selection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7C3AED"/>
                </a:solidFill>
                <a:latin typeface="Inter"/>
              </a:rPr>
              <a:t>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59" y="5760720"/>
            <a:ext cx="1097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Saved per wedding —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no more decoding lists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36576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272" y="3657600"/>
            <a:ext cx="274320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4114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53949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minutes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2231" y="5760720"/>
            <a:ext cx="1097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5852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Spent searching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Drive folder-by-folder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6576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657600"/>
            <a:ext cx="274320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4114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3949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hours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04303" y="5760720"/>
            <a:ext cx="1097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5852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From shoot to selection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(vs 7+ days)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36576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3416" y="3657600"/>
            <a:ext cx="274320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4114800"/>
            <a:ext cx="2194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₹500–₹2k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53949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per hour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6375" y="5760720"/>
            <a:ext cx="10972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17736" y="58521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What your time is</a:t>
            </a:r>
          </a:p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64748B"/>
                </a:solidFill>
                <a:latin typeface="Inter"/>
              </a:rPr>
              <a:t>actually worth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Inter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365760"/>
            <a:ext cx="1371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7200" b="1">
                <a:solidFill>
                  <a:srgbClr val="E2E8F0"/>
                </a:solidFill>
                <a:latin typeface="Inter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Why not just free cloud + paper?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Inter"/>
              </a:rPr>
              <a:t>Because 'free' has a hidden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57784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Inter"/>
              </a:rPr>
              <a:t>THE OLD 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0F172A"/>
                </a:solidFill>
                <a:latin typeface="Inter"/>
              </a:rPr>
              <a:t>Free cloud storage</a:t>
            </a:r>
          </a:p>
          <a:p>
            <a:pPr algn="l">
              <a:lnSpc>
                <a:spcPct val="110000"/>
              </a:lnSpc>
            </a:pPr>
            <a:r>
              <a:rPr sz="2400" b="1">
                <a:solidFill>
                  <a:srgbClr val="0F172A"/>
                </a:solidFill>
                <a:latin typeface="Inter"/>
              </a:rPr>
              <a:t>+ paper 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❌  Clients write file names on paper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❌  You decode handwriting, file-by-file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❌  No branding — looks like a hobbyist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❌  Cloud storage nags for paid upgrade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❌  Misread one name → angry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566160"/>
            <a:ext cx="5577840" cy="3108960"/>
          </a:xfrm>
          <a:prstGeom prst="roundRect">
            <a:avLst>
              <a:gd name="adj" fmla="val 4000"/>
            </a:avLst>
          </a:prstGeom>
          <a:solidFill>
            <a:srgbClr val="FAF5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3657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★  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160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FRAMEDROPS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7C3AED"/>
                </a:solidFill>
                <a:latin typeface="Inter"/>
              </a:rPr>
              <a:t>₹149 per album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074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Inter"/>
              </a:rPr>
              <a:t>(only when you publish)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44068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✅  Pay zero when you don't shoot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✅  INR-native — no FX surprises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✅  English, Telugu, Hindi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✅  GST invoices + Razorpay UPI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✅  Built in India, for Indian weddings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94A3B8"/>
                </a:solidFill>
                <a:latin typeface="Inter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FRAMEDROPS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502920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-2743200"/>
            <a:ext cx="9144000" cy="91440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0" y="640080"/>
            <a:ext cx="2286000" cy="274320"/>
          </a:xfrm>
          <a:prstGeom prst="parallelogram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✨ START FREE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7772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Your next wedding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deserves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4A3B8"/>
                </a:solidFill>
                <a:latin typeface="Inter"/>
              </a:rPr>
              <a:t>🎁  300 free images  ·  💳  No credit card  ·  ⚡  2-min 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59E0B"/>
                </a:solidFill>
                <a:latin typeface="Inter"/>
              </a:rPr>
              <a:t>Stop chasing. Start delivering.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269748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5603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7C3AED"/>
                </a:solidFill>
                <a:latin typeface="Inter"/>
              </a:rPr>
              <a:t>TRY FRAMEDROPS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Inter"/>
              </a:rPr>
              <a:t>https://framedrops.in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384048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977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Inter"/>
              </a:rPr>
              <a:t>Open on phone or laptop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BD5E1"/>
                </a:solidFill>
                <a:latin typeface="Inter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