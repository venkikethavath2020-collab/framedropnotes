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FFFBEB"/>
              </a:gs>
              <a:gs pos="1000">
                <a:srgbClr val="FFFF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Inter"/>
              </a:rPr>
              <a:t>Framedrops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548640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Inter"/>
              </a:rPr>
              <a:t>1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Inter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943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0F172A"/>
                </a:solidFill>
                <a:latin typeface="Inter"/>
              </a:rPr>
              <a:t>Forgot another</a:t>
            </a:r>
          </a:p>
          <a:p>
            <a:pPr algn="l">
              <a:lnSpc>
                <a:spcPct val="105000"/>
              </a:lnSpc>
            </a:pPr>
            <a:r>
              <a:rPr sz="5400" b="1">
                <a:solidFill>
                  <a:srgbClr val="0F172A"/>
                </a:solidFill>
                <a:latin typeface="Inter"/>
              </a:rPr>
              <a:t>shoot date?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4340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4748B"/>
                </a:solidFill>
                <a:latin typeface="Inter"/>
              </a:rPr>
              <a:t>Late to the venue. Awkward client call. Lost booking.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94960"/>
            <a:ext cx="548640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0570464"/>
            <a:ext cx="539496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5394960"/>
            <a:ext cx="5486400" cy="50292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431536"/>
            <a:ext cx="49377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MARCH 2026</a:t>
            </a:r>
          </a:p>
        </p:txBody>
      </p:sp>
      <p:sp>
        <p:nvSpPr>
          <p:cNvPr id="13" name="Oval 12"/>
          <p:cNvSpPr/>
          <p:nvPr/>
        </p:nvSpPr>
        <p:spPr>
          <a:xfrm>
            <a:off x="5806440" y="559155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05272" y="559155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971032"/>
            <a:ext cx="73151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971032"/>
            <a:ext cx="73151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5971032"/>
            <a:ext cx="73151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39" y="5971032"/>
            <a:ext cx="73151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59" y="5971032"/>
            <a:ext cx="73151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5971032"/>
            <a:ext cx="73151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5971032"/>
            <a:ext cx="73151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26364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626364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626364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39" y="626364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79" y="6309360"/>
            <a:ext cx="640080" cy="731520"/>
          </a:xfrm>
          <a:prstGeom prst="roundRect">
            <a:avLst>
              <a:gd name="adj" fmla="val 15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59" y="626364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626364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626364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708660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708660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708660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39" y="708660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79" y="7132320"/>
            <a:ext cx="640080" cy="731520"/>
          </a:xfrm>
          <a:prstGeom prst="roundRect">
            <a:avLst>
              <a:gd name="adj" fmla="val 15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59" y="708660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79" y="708660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708660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790956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15</a:t>
            </a:r>
          </a:p>
        </p:txBody>
      </p:sp>
      <p:sp>
        <p:nvSpPr>
          <p:cNvPr id="39" name="Oval 38"/>
          <p:cNvSpPr/>
          <p:nvPr/>
        </p:nvSpPr>
        <p:spPr>
          <a:xfrm>
            <a:off x="1435608" y="7946136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00200" y="790956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790956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63239" y="790956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18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79" y="7955280"/>
            <a:ext cx="640080" cy="731520"/>
          </a:xfrm>
          <a:prstGeom prst="roundRect">
            <a:avLst>
              <a:gd name="adj" fmla="val 15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94759" y="790956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79" y="790956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790956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873252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873252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31720" y="873252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63239" y="873252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4759" y="873252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6279" y="873252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57800" y="873252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955548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29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955548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31720" y="955548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31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63239" y="955548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32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4759" y="955548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33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26279" y="955548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34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57800" y="9555480"/>
            <a:ext cx="7315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35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10789920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The 14th — gone before you opened your phone.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11430000"/>
            <a:ext cx="5943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11612880"/>
            <a:ext cx="5943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64748B"/>
                </a:solidFill>
                <a:latin typeface="Inter"/>
              </a:rPr>
              <a:t>https://framedrops.in/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F5F3FF"/>
              </a:gs>
              <a:gs pos="1000">
                <a:srgbClr val="FFFF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Inter"/>
              </a:rPr>
              <a:t>Framedrops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548640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Inter"/>
              </a:rPr>
              <a:t>2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7C3AED"/>
                </a:solidFill>
                <a:latin typeface="Inter"/>
              </a:rPr>
              <a:t>THE 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943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1">
                <a:solidFill>
                  <a:srgbClr val="0F172A"/>
                </a:solidFill>
                <a:latin typeface="Inter"/>
              </a:rPr>
              <a:t>Add it to your</a:t>
            </a:r>
          </a:p>
          <a:p>
            <a:pPr algn="l">
              <a:lnSpc>
                <a:spcPct val="105000"/>
              </a:lnSpc>
            </a:pPr>
            <a:r>
              <a:rPr sz="5000" b="1">
                <a:solidFill>
                  <a:srgbClr val="0F172A"/>
                </a:solidFill>
                <a:latin typeface="Inter"/>
              </a:rPr>
              <a:t>Framedrops</a:t>
            </a:r>
          </a:p>
          <a:p>
            <a:pPr algn="l">
              <a:lnSpc>
                <a:spcPct val="105000"/>
              </a:lnSpc>
            </a:pPr>
            <a:r>
              <a:rPr sz="5000" b="1">
                <a:solidFill>
                  <a:srgbClr val="0F172A"/>
                </a:solidFill>
                <a:latin typeface="Inter"/>
              </a:rPr>
              <a:t>calendar.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4748B"/>
                </a:solidFill>
                <a:latin typeface="Inter"/>
              </a:rPr>
              <a:t>Every event reminder lands in your inbox — before the shoot.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85216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9015984"/>
            <a:ext cx="539496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5852160"/>
            <a:ext cx="5486400" cy="50292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888736"/>
            <a:ext cx="49377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MARCH 2026</a:t>
            </a:r>
          </a:p>
        </p:txBody>
      </p:sp>
      <p:sp>
        <p:nvSpPr>
          <p:cNvPr id="13" name="Oval 12"/>
          <p:cNvSpPr/>
          <p:nvPr/>
        </p:nvSpPr>
        <p:spPr>
          <a:xfrm>
            <a:off x="5806440" y="604875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05272" y="604875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428232"/>
            <a:ext cx="73151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6428232"/>
            <a:ext cx="73151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6428232"/>
            <a:ext cx="73151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39" y="6428232"/>
            <a:ext cx="73151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59" y="6428232"/>
            <a:ext cx="73151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6428232"/>
            <a:ext cx="73151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6428232"/>
            <a:ext cx="73151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720840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6720840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6720840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39" y="6720840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59" y="6720840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79" y="6720840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6720840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7141464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7141464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77439" y="7187184"/>
            <a:ext cx="640080" cy="329184"/>
          </a:xfrm>
          <a:prstGeom prst="roundRect">
            <a:avLst>
              <a:gd name="adj" fmla="val 1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31720" y="7141464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39" y="7141464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59" y="7141464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79" y="7141464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7141464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7607808"/>
            <a:ext cx="640080" cy="329184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7562088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7562088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7562088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63239" y="7562088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59" y="7562088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79" y="7562088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7800" y="7562088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7982712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645920" y="8028432"/>
            <a:ext cx="640080" cy="329184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0200" y="7982712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1720" y="7982712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63239" y="7982712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4759" y="7982712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79" y="7982712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3520" y="8028432"/>
            <a:ext cx="640080" cy="329184"/>
          </a:xfrm>
          <a:prstGeom prst="roundRect">
            <a:avLst>
              <a:gd name="adj" fmla="val 15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57800" y="7982712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28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8403336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29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8403336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31720" y="8403336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31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63239" y="8403336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32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4759" y="8403336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33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26279" y="8403336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34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57800" y="8403336"/>
            <a:ext cx="731519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35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5800" y="928116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14400" y="950976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0" y="95097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F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54480" y="950976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172A"/>
                </a:solidFill>
                <a:latin typeface="Inter"/>
              </a:rPr>
              <a:t>Framedrops Reminders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3520" y="950976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Inter"/>
              </a:rPr>
              <a:t>9:00 AM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54480" y="98298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Inter"/>
              </a:rPr>
              <a:t>Tomorrow: Sharma Wedding shoot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54480" y="1019556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Inter"/>
              </a:rPr>
              <a:t>10 AM · Hyatt Hyderabad · 6 hrs</a:t>
            </a:r>
          </a:p>
        </p:txBody>
      </p:sp>
      <p:sp>
        <p:nvSpPr>
          <p:cNvPr id="68" name="Oval 67"/>
          <p:cNvSpPr/>
          <p:nvPr/>
        </p:nvSpPr>
        <p:spPr>
          <a:xfrm>
            <a:off x="731520" y="10003536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57200" y="11430000"/>
            <a:ext cx="5943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11612880"/>
            <a:ext cx="5943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64748B"/>
                </a:solidFill>
                <a:latin typeface="Inter"/>
              </a:rPr>
              <a:t>https://framedrops.in/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EEF2FF"/>
              </a:gs>
              <a:gs pos="1000">
                <a:srgbClr val="FFFFF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Inter"/>
              </a:rPr>
              <a:t>Framedrops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548640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Inter"/>
              </a:rPr>
              <a:t>3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7C3AED"/>
                </a:solidFill>
                <a:latin typeface="Inter"/>
              </a:rPr>
              <a:t>TRY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943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0F172A"/>
                </a:solidFill>
                <a:latin typeface="Inter"/>
              </a:rPr>
              <a:t>Never miss a</a:t>
            </a:r>
          </a:p>
          <a:p>
            <a:pPr algn="l">
              <a:lnSpc>
                <a:spcPct val="105000"/>
              </a:lnSpc>
            </a:pPr>
            <a:r>
              <a:rPr sz="5200" b="1">
                <a:solidFill>
                  <a:srgbClr val="0F172A"/>
                </a:solidFill>
                <a:latin typeface="Inter"/>
              </a:rPr>
              <a:t>shoot again.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4748B"/>
                </a:solidFill>
                <a:latin typeface="Inter"/>
              </a:rPr>
              <a:t>Calendar + email reminders, built for photographers.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79" y="4846320"/>
            <a:ext cx="3291840" cy="4297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74519" y="4937760"/>
            <a:ext cx="310896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74136" y="5047488"/>
            <a:ext cx="91440" cy="914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03120" y="5440680"/>
            <a:ext cx="265176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48839" y="8238744"/>
            <a:ext cx="256032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03120" y="5440680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39" y="5477256"/>
            <a:ext cx="21031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MARCH 2026</a:t>
            </a:r>
          </a:p>
        </p:txBody>
      </p:sp>
      <p:sp>
        <p:nvSpPr>
          <p:cNvPr id="16" name="Oval 15"/>
          <p:cNvSpPr/>
          <p:nvPr/>
        </p:nvSpPr>
        <p:spPr>
          <a:xfrm>
            <a:off x="4389119" y="563727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87951" y="563727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6016752"/>
            <a:ext cx="326571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12571" y="6016752"/>
            <a:ext cx="326571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9142" y="6016752"/>
            <a:ext cx="326571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5714" y="6016752"/>
            <a:ext cx="326571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2285" y="6016752"/>
            <a:ext cx="326571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8857" y="6016752"/>
            <a:ext cx="326571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5428" y="6016752"/>
            <a:ext cx="326571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Inter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6309360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2571" y="6309360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39142" y="6309360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5714" y="6309360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2285" y="6309360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8857" y="6309360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45428" y="6309360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6656832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12571" y="6656832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84862" y="6702552"/>
            <a:ext cx="235131" cy="256032"/>
          </a:xfrm>
          <a:prstGeom prst="roundRect">
            <a:avLst>
              <a:gd name="adj" fmla="val 1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39142" y="6656832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65714" y="6656832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2285" y="6656832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18857" y="6656832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45428" y="6656832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31720" y="7050024"/>
            <a:ext cx="235131" cy="256032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7004304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12571" y="7004304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39142" y="7004304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65714" y="7004304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2285" y="7004304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18857" y="7004304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45428" y="7004304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7351776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58291" y="7397496"/>
            <a:ext cx="235131" cy="256032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12571" y="7351776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39142" y="7351776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65714" y="7351776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2285" y="7351776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18857" y="7351776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Inter"/>
              </a:rPr>
              <a:t>27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91148" y="7397496"/>
            <a:ext cx="235131" cy="256032"/>
          </a:xfrm>
          <a:prstGeom prst="roundRect">
            <a:avLst>
              <a:gd name="adj" fmla="val 15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45428" y="7351776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28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86000" y="7699248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29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12571" y="7699248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39142" y="7699248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31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65714" y="7699248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32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2285" y="7699248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33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18857" y="7699248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34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45428" y="7699248"/>
            <a:ext cx="3265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CBD5E1"/>
                </a:solidFill>
                <a:latin typeface="Inter"/>
              </a:rPr>
              <a:t>35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103120" y="8366760"/>
            <a:ext cx="2651760" cy="45720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03120" y="8366760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Inter"/>
              </a:rPr>
              <a:t>+ Add event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5800" y="932688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8680" y="94914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Inter"/>
              </a:rPr>
              <a:t>First client free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" y="985723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3,000 photos · 30 days · No credit card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234440" y="10424160"/>
            <a:ext cx="4389120" cy="9601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Inter"/>
              </a:rPr>
              <a:t>framedrops.in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