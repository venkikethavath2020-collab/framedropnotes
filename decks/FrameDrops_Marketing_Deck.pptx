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6858000" cy="12188952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858000" cy="12188952"/>
          </a:xfrm>
          <a:prstGeom prst="rect">
            <a:avLst/>
          </a:prstGeom>
          <a:ln>
            <a:noFill/>
          </a:ln>
          <a:gradFill flip="none" rotWithShape="1">
            <a:gsLst>
              <a:gs pos="0">
                <a:srgbClr val="1E1B4B"/>
              </a:gs>
              <a:gs pos="50000">
                <a:srgbClr val="4C1D95"/>
              </a:gs>
              <a:gs pos="100000">
                <a:srgbClr val="EC4899"/>
              </a:gs>
            </a:gsLst>
            <a:lin ang="8100000" scaled="0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828800" y="6400800"/>
            <a:ext cx="8229600" cy="8229600"/>
          </a:xfrm>
          <a:prstGeom prst="ellipse">
            <a:avLst/>
          </a:prstGeom>
          <a:ln>
            <a:noFill/>
          </a:ln>
          <a:gradFill flip="none" rotWithShape="1">
            <a:gsLst>
              <a:gs pos="0">
                <a:srgbClr val="D946EF"/>
              </a:gs>
              <a:gs pos="100000">
                <a:srgbClr val="FB7B2C"/>
              </a:gs>
            </a:gsLst>
            <a:lin ang="2700000" scaled="0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3657600" y="-1828800"/>
            <a:ext cx="6400800" cy="6400800"/>
          </a:xfrm>
          <a:prstGeom prst="ellipse">
            <a:avLst/>
          </a:prstGeom>
          <a:ln>
            <a:noFill/>
          </a:ln>
          <a:gradFill flip="none" rotWithShape="1">
            <a:gsLst>
              <a:gs pos="0">
                <a:srgbClr val="22D3EE"/>
              </a:gs>
              <a:gs pos="100000">
                <a:srgbClr val="A855F7"/>
              </a:gs>
            </a:gsLst>
            <a:lin ang="18900000" scaled="0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2286000" y="731520"/>
            <a:ext cx="2286000" cy="502920"/>
          </a:xfrm>
          <a:prstGeom prst="roundRect">
            <a:avLst>
              <a:gd name="adj" fmla="val 50000"/>
            </a:avLst>
          </a:prstGeom>
          <a:ln>
            <a:noFill/>
          </a:ln>
          <a:gradFill flip="none" rotWithShape="1">
            <a:gsLst>
              <a:gs pos="0">
                <a:srgbClr val="FBBF24"/>
              </a:gs>
              <a:gs pos="100000">
                <a:srgbClr val="FB7B2C"/>
              </a:gs>
            </a:gsLst>
            <a:lin ang="0" scaled="0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36576" bIns="36576"/>
          <a:lstStyle/>
          <a:p>
            <a:pPr algn="ctr"/>
            <a:r>
              <a:rPr sz="1300" b="1">
                <a:solidFill>
                  <a:srgbClr val="1A0B3F"/>
                </a:solidFill>
                <a:latin typeface="Inter"/>
              </a:rPr>
              <a:t>✨ FRAMEDROPS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286000"/>
            <a:ext cx="5943600" cy="3657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6200" b="1">
                <a:solidFill>
                  <a:srgbClr val="FFFFFF"/>
                </a:solidFill>
                <a:latin typeface="Inter"/>
              </a:rPr>
              <a:t>Tired of</a:t>
            </a:r>
          </a:p>
          <a:p>
            <a:pPr algn="l">
              <a:lnSpc>
                <a:spcPct val="100000"/>
              </a:lnSpc>
            </a:pPr>
            <a:r>
              <a:rPr sz="6200" b="1">
                <a:solidFill>
                  <a:srgbClr val="FFFFFF"/>
                </a:solidFill>
                <a:latin typeface="Inter"/>
              </a:rPr>
              <a:t>Google Drive</a:t>
            </a:r>
          </a:p>
          <a:p>
            <a:pPr algn="l">
              <a:lnSpc>
                <a:spcPct val="100000"/>
              </a:lnSpc>
            </a:pPr>
            <a:r>
              <a:rPr sz="6200" b="1">
                <a:solidFill>
                  <a:srgbClr val="FFFFFF"/>
                </a:solidFill>
                <a:latin typeface="Inter"/>
              </a:rPr>
              <a:t>+ paper lists?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5943600"/>
            <a:ext cx="3200400" cy="164592"/>
          </a:xfrm>
          <a:prstGeom prst="rect">
            <a:avLst/>
          </a:prstGeom>
          <a:gradFill flip="none" rotWithShape="1">
            <a:gsLst>
              <a:gs pos="0">
                <a:srgbClr val="FBBF24"/>
              </a:gs>
              <a:gs pos="100000">
                <a:srgbClr val="FB7B2C"/>
              </a:gs>
            </a:gsLst>
            <a:lin ang="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400800"/>
            <a:ext cx="5943600" cy="228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0">
                <a:solidFill>
                  <a:srgbClr val="FFFFFF"/>
                </a:solidFill>
                <a:latin typeface="Inter"/>
              </a:rPr>
              <a:t>The proper selection workflow</a:t>
            </a:r>
          </a:p>
          <a:p>
            <a:pPr algn="l">
              <a:lnSpc>
                <a:spcPct val="130000"/>
              </a:lnSpc>
            </a:pPr>
            <a:r>
              <a:rPr sz="2200" b="0">
                <a:solidFill>
                  <a:srgbClr val="FFFFFF"/>
                </a:solidFill>
                <a:latin typeface="Inter"/>
              </a:rPr>
              <a:t>for Indian photographers.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0972800"/>
            <a:ext cx="2011680" cy="502920"/>
          </a:xfrm>
          <a:prstGeom prst="roundRect">
            <a:avLst>
              <a:gd name="adj" fmla="val 50000"/>
            </a:avLst>
          </a:prstGeom>
          <a:ln>
            <a:noFill/>
          </a:ln>
          <a:gradFill flip="none" rotWithShape="1">
            <a:gsLst>
              <a:gs pos="0">
                <a:srgbClr val="FB7B2C"/>
              </a:gs>
              <a:gs pos="100000">
                <a:srgbClr val="F43F5E"/>
              </a:gs>
            </a:gsLst>
            <a:lin ang="2700000" scaled="0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36576" bIns="36576"/>
          <a:lstStyle/>
          <a:p>
            <a:pPr algn="ctr"/>
            <a:r>
              <a:rPr sz="1100" b="1">
                <a:solidFill>
                  <a:srgbClr val="FFFFFF"/>
                </a:solidFill>
                <a:latin typeface="Inter"/>
              </a:rPr>
              <a:t>🇮🇳 Made in India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606040" y="10972800"/>
            <a:ext cx="2011680" cy="502920"/>
          </a:xfrm>
          <a:prstGeom prst="roundRect">
            <a:avLst>
              <a:gd name="adj" fmla="val 50000"/>
            </a:avLst>
          </a:prstGeom>
          <a:ln>
            <a:noFill/>
          </a:ln>
          <a:gradFill flip="none" rotWithShape="1">
            <a:gsLst>
              <a:gs pos="0">
                <a:srgbClr val="22D3EE"/>
              </a:gs>
              <a:gs pos="100000">
                <a:srgbClr val="8B5CF6"/>
              </a:gs>
            </a:gsLst>
            <a:lin ang="2700000" scaled="0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36576" bIns="36576"/>
          <a:lstStyle/>
          <a:p>
            <a:pPr algn="ctr"/>
            <a:r>
              <a:rPr sz="1100" b="1">
                <a:solidFill>
                  <a:srgbClr val="FFFFFF"/>
                </a:solidFill>
                <a:latin typeface="Inter"/>
              </a:rPr>
              <a:t>⚡ 2-min signup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754880" y="10972800"/>
            <a:ext cx="2011680" cy="502920"/>
          </a:xfrm>
          <a:prstGeom prst="roundRect">
            <a:avLst>
              <a:gd name="adj" fmla="val 50000"/>
            </a:avLst>
          </a:prstGeom>
          <a:ln>
            <a:noFill/>
          </a:ln>
          <a:gradFill flip="none" rotWithShape="1">
            <a:gsLst>
              <a:gs pos="0">
                <a:srgbClr val="34D399"/>
              </a:gs>
              <a:gs pos="100000">
                <a:srgbClr val="14B8A6"/>
              </a:gs>
            </a:gsLst>
            <a:lin ang="2700000" scaled="0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36576" bIns="36576"/>
          <a:lstStyle/>
          <a:p>
            <a:pPr algn="ctr"/>
            <a:r>
              <a:rPr sz="1100" b="1">
                <a:solidFill>
                  <a:srgbClr val="FFFFFF"/>
                </a:solidFill>
                <a:latin typeface="Inter"/>
              </a:rPr>
              <a:t>🎁 300 free</a:t>
            </a:r>
          </a:p>
        </p:txBody>
      </p:sp>
      <p:sp>
        <p:nvSpPr>
          <p:cNvPr id="12" name="4-Point Star 11"/>
          <p:cNvSpPr/>
          <p:nvPr/>
        </p:nvSpPr>
        <p:spPr>
          <a:xfrm>
            <a:off x="5029200" y="2926080"/>
            <a:ext cx="164592" cy="164592"/>
          </a:xfrm>
          <a:prstGeom prst="star4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4-Point Star 12"/>
          <p:cNvSpPr/>
          <p:nvPr/>
        </p:nvSpPr>
        <p:spPr>
          <a:xfrm>
            <a:off x="1371600" y="7772400"/>
            <a:ext cx="128016" cy="128016"/>
          </a:xfrm>
          <a:prstGeom prst="star4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4-Point Star 13"/>
          <p:cNvSpPr/>
          <p:nvPr/>
        </p:nvSpPr>
        <p:spPr>
          <a:xfrm>
            <a:off x="5669280" y="8686800"/>
            <a:ext cx="201168" cy="201168"/>
          </a:xfrm>
          <a:prstGeom prst="star4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4-Point Star 14"/>
          <p:cNvSpPr/>
          <p:nvPr/>
        </p:nvSpPr>
        <p:spPr>
          <a:xfrm>
            <a:off x="731520" y="10058400"/>
            <a:ext cx="109728" cy="109728"/>
          </a:xfrm>
          <a:prstGeom prst="star4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858000" cy="12188952"/>
          </a:xfrm>
          <a:prstGeom prst="rect">
            <a:avLst/>
          </a:prstGeom>
          <a:ln>
            <a:noFill/>
          </a:ln>
          <a:gradFill flip="none" rotWithShape="1">
            <a:gsLst>
              <a:gs pos="0">
                <a:srgbClr val="FEF3C7"/>
              </a:gs>
              <a:gs pos="50000">
                <a:srgbClr val="FCD34D"/>
              </a:gs>
              <a:gs pos="100000">
                <a:srgbClr val="FB7B2C"/>
              </a:gs>
            </a:gsLst>
            <a:lin ang="8100000" scaled="0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114800" y="-1828800"/>
            <a:ext cx="5486400" cy="5486400"/>
          </a:xfrm>
          <a:prstGeom prst="ellipse">
            <a:avLst/>
          </a:prstGeom>
          <a:ln>
            <a:noFill/>
          </a:ln>
          <a:gradFill flip="none" rotWithShape="1">
            <a:gsLst>
              <a:gs pos="0">
                <a:srgbClr val="EC4899"/>
              </a:gs>
              <a:gs pos="100000">
                <a:srgbClr val="FF6B6B"/>
              </a:gs>
            </a:gsLst>
            <a:lin ang="10800000" scaled="0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731520"/>
            <a:ext cx="2286000" cy="502920"/>
          </a:xfrm>
          <a:prstGeom prst="roundRect">
            <a:avLst>
              <a:gd name="adj" fmla="val 50000"/>
            </a:avLst>
          </a:prstGeom>
          <a:ln>
            <a:noFill/>
          </a:ln>
          <a:gradFill flip="none" rotWithShape="1">
            <a:gsLst>
              <a:gs pos="0">
                <a:srgbClr val="EF4444"/>
              </a:gs>
              <a:gs pos="100000">
                <a:srgbClr val="F43F5E"/>
              </a:gs>
            </a:gsLst>
            <a:lin ang="0" scaled="0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36576" bIns="36576"/>
          <a:lstStyle/>
          <a:p>
            <a:pPr algn="ctr"/>
            <a:r>
              <a:rPr sz="1300" b="1">
                <a:solidFill>
                  <a:srgbClr val="FFFFFF"/>
                </a:solidFill>
                <a:latin typeface="Inter"/>
              </a:rPr>
              <a:t>🔥 THE PAIN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594360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5600" b="1">
                <a:solidFill>
                  <a:srgbClr val="1A0B3F"/>
                </a:solidFill>
                <a:latin typeface="Inter"/>
              </a:rPr>
              <a:t>Sound familiar?</a:t>
            </a:r>
          </a:p>
        </p:txBody>
      </p:sp>
      <p:sp>
        <p:nvSpPr>
          <p:cNvPr id="6" name="Oval 5"/>
          <p:cNvSpPr/>
          <p:nvPr/>
        </p:nvSpPr>
        <p:spPr>
          <a:xfrm>
            <a:off x="457200" y="3383280"/>
            <a:ext cx="822960" cy="822960"/>
          </a:xfrm>
          <a:prstGeom prst="ellipse">
            <a:avLst/>
          </a:prstGeom>
          <a:ln>
            <a:noFill/>
          </a:ln>
          <a:gradFill flip="none" rotWithShape="1">
            <a:gsLst>
              <a:gs pos="0">
                <a:srgbClr val="8B5CF6"/>
              </a:gs>
              <a:gs pos="100000">
                <a:srgbClr val="EC4899"/>
              </a:gs>
            </a:gsLst>
            <a:lin ang="2700000" scaled="0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3474720"/>
            <a:ext cx="82296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400" b="0">
                <a:solidFill>
                  <a:srgbClr val="FFFFFF"/>
                </a:solidFill>
                <a:latin typeface="Inter"/>
              </a:rPr>
              <a:t>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3429000"/>
            <a:ext cx="5212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700" b="1">
                <a:solidFill>
                  <a:srgbClr val="1A0B3F"/>
                </a:solidFill>
                <a:latin typeface="Inter"/>
              </a:rPr>
              <a:t>Upload 1,500 photos to Drive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3840480"/>
            <a:ext cx="5212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475569"/>
                </a:solidFill>
                <a:latin typeface="Inter"/>
              </a:rPr>
              <a:t>30+ min waiting. Storage filling up.</a:t>
            </a:r>
          </a:p>
        </p:txBody>
      </p:sp>
      <p:sp>
        <p:nvSpPr>
          <p:cNvPr id="10" name="Oval 9"/>
          <p:cNvSpPr/>
          <p:nvPr/>
        </p:nvSpPr>
        <p:spPr>
          <a:xfrm>
            <a:off x="457200" y="4709160"/>
            <a:ext cx="822960" cy="822960"/>
          </a:xfrm>
          <a:prstGeom prst="ellipse">
            <a:avLst/>
          </a:prstGeom>
          <a:ln>
            <a:noFill/>
          </a:ln>
          <a:gradFill flip="none" rotWithShape="1">
            <a:gsLst>
              <a:gs pos="0">
                <a:srgbClr val="06B6D4"/>
              </a:gs>
              <a:gs pos="100000">
                <a:srgbClr val="8B5CF6"/>
              </a:gs>
            </a:gsLst>
            <a:lin ang="2700000" scaled="0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4800600"/>
            <a:ext cx="82296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400" b="0">
                <a:solidFill>
                  <a:srgbClr val="FFFFFF"/>
                </a:solidFill>
                <a:latin typeface="Inter"/>
              </a:rPr>
              <a:t>🔗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63040" y="4754880"/>
            <a:ext cx="5212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700" b="1">
                <a:solidFill>
                  <a:srgbClr val="1A0B3F"/>
                </a:solidFill>
                <a:latin typeface="Inter"/>
              </a:rPr>
              <a:t>Share link on WhatsApp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63040" y="5166360"/>
            <a:ext cx="5212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475569"/>
                </a:solidFill>
                <a:latin typeface="Inter"/>
              </a:rPr>
              <a:t>Client pinch-zooms on tiny phone screen.</a:t>
            </a:r>
          </a:p>
        </p:txBody>
      </p:sp>
      <p:sp>
        <p:nvSpPr>
          <p:cNvPr id="14" name="Oval 13"/>
          <p:cNvSpPr/>
          <p:nvPr/>
        </p:nvSpPr>
        <p:spPr>
          <a:xfrm>
            <a:off x="457200" y="6035040"/>
            <a:ext cx="822960" cy="822960"/>
          </a:xfrm>
          <a:prstGeom prst="ellipse">
            <a:avLst/>
          </a:prstGeom>
          <a:ln>
            <a:noFill/>
          </a:ln>
          <a:gradFill flip="none" rotWithShape="1">
            <a:gsLst>
              <a:gs pos="0">
                <a:srgbClr val="FB7B2C"/>
              </a:gs>
              <a:gs pos="100000">
                <a:srgbClr val="F43F5E"/>
              </a:gs>
            </a:gsLst>
            <a:lin ang="2700000" scaled="0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6126480"/>
            <a:ext cx="82296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400" b="0">
                <a:solidFill>
                  <a:srgbClr val="FFFFFF"/>
                </a:solidFill>
                <a:latin typeface="Inter"/>
              </a:rPr>
              <a:t>📝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63040" y="6080760"/>
            <a:ext cx="5212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700" b="1">
                <a:solidFill>
                  <a:srgbClr val="1A0B3F"/>
                </a:solidFill>
                <a:latin typeface="Inter"/>
              </a:rPr>
              <a:t>Names written on paper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6492240"/>
            <a:ext cx="5212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475569"/>
                </a:solidFill>
                <a:latin typeface="Inter"/>
              </a:rPr>
              <a:t>“IMG_2845, IMG_2912, IMG_3001…”</a:t>
            </a:r>
          </a:p>
        </p:txBody>
      </p:sp>
      <p:sp>
        <p:nvSpPr>
          <p:cNvPr id="18" name="Oval 17"/>
          <p:cNvSpPr/>
          <p:nvPr/>
        </p:nvSpPr>
        <p:spPr>
          <a:xfrm>
            <a:off x="457200" y="7360920"/>
            <a:ext cx="822960" cy="822960"/>
          </a:xfrm>
          <a:prstGeom prst="ellipse">
            <a:avLst/>
          </a:prstGeom>
          <a:ln>
            <a:noFill/>
          </a:ln>
          <a:gradFill flip="none" rotWithShape="1">
            <a:gsLst>
              <a:gs pos="0">
                <a:srgbClr val="D946EF"/>
              </a:gs>
              <a:gs pos="100000">
                <a:srgbClr val="6D28D9"/>
              </a:gs>
            </a:gsLst>
            <a:lin ang="2700000" scaled="0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7452360"/>
            <a:ext cx="82296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400" b="0">
                <a:solidFill>
                  <a:srgbClr val="FFFFFF"/>
                </a:solidFill>
                <a:latin typeface="Inter"/>
              </a:rPr>
              <a:t>💬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63040" y="7406640"/>
            <a:ext cx="5212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700" b="1">
                <a:solidFill>
                  <a:srgbClr val="1A0B3F"/>
                </a:solidFill>
                <a:latin typeface="Inter"/>
              </a:rPr>
              <a:t>WhatsApp the paper photo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63040" y="7818120"/>
            <a:ext cx="5212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475569"/>
                </a:solidFill>
                <a:latin typeface="Inter"/>
              </a:rPr>
              <a:t>Or typed list. Or both. Or neither.</a:t>
            </a:r>
          </a:p>
        </p:txBody>
      </p:sp>
      <p:sp>
        <p:nvSpPr>
          <p:cNvPr id="22" name="Oval 21"/>
          <p:cNvSpPr/>
          <p:nvPr/>
        </p:nvSpPr>
        <p:spPr>
          <a:xfrm>
            <a:off x="457200" y="8686800"/>
            <a:ext cx="822960" cy="822960"/>
          </a:xfrm>
          <a:prstGeom prst="ellipse">
            <a:avLst/>
          </a:prstGeom>
          <a:ln>
            <a:noFill/>
          </a:ln>
          <a:gradFill flip="none" rotWithShape="1">
            <a:gsLst>
              <a:gs pos="0">
                <a:srgbClr val="14B8A6"/>
              </a:gs>
              <a:gs pos="100000">
                <a:srgbClr val="3B0D86"/>
              </a:gs>
            </a:gsLst>
            <a:lin ang="2700000" scaled="0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8778240"/>
            <a:ext cx="82296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400" b="0">
                <a:solidFill>
                  <a:srgbClr val="FFFFFF"/>
                </a:solidFill>
                <a:latin typeface="Inter"/>
              </a:rPr>
              <a:t>🔍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63040" y="8732520"/>
            <a:ext cx="5212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700" b="1">
                <a:solidFill>
                  <a:srgbClr val="1A0B3F"/>
                </a:solidFill>
                <a:latin typeface="Inter"/>
              </a:rPr>
              <a:t>Decode the handwriting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63040" y="9144000"/>
            <a:ext cx="5212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475569"/>
                </a:solidFill>
                <a:latin typeface="Inter"/>
              </a:rPr>
              <a:t>Search file-by-file. Miss one. Complain.</a:t>
            </a:r>
          </a:p>
        </p:txBody>
      </p:sp>
      <p:sp>
        <p:nvSpPr>
          <p:cNvPr id="26" name="Oval 25"/>
          <p:cNvSpPr/>
          <p:nvPr/>
        </p:nvSpPr>
        <p:spPr>
          <a:xfrm>
            <a:off x="457200" y="10012680"/>
            <a:ext cx="822960" cy="822960"/>
          </a:xfrm>
          <a:prstGeom prst="ellipse">
            <a:avLst/>
          </a:prstGeom>
          <a:ln>
            <a:noFill/>
          </a:ln>
          <a:gradFill flip="none" rotWithShape="1">
            <a:gsLst>
              <a:gs pos="0">
                <a:srgbClr val="F43F5E"/>
              </a:gs>
              <a:gs pos="100000">
                <a:srgbClr val="4C1D95"/>
              </a:gs>
            </a:gsLst>
            <a:lin ang="2700000" scaled="0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7200" y="10104119"/>
            <a:ext cx="82296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400" b="0">
                <a:solidFill>
                  <a:srgbClr val="FFFFFF"/>
                </a:solidFill>
                <a:latin typeface="Inter"/>
              </a:rPr>
              <a:t>😩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63040" y="10058400"/>
            <a:ext cx="5212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700" b="1">
                <a:solidFill>
                  <a:srgbClr val="1A0B3F"/>
                </a:solidFill>
                <a:latin typeface="Inter"/>
              </a:rPr>
              <a:t>Repeat. Every. Wedding.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463040" y="10469880"/>
            <a:ext cx="5212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475569"/>
                </a:solidFill>
                <a:latin typeface="Inter"/>
              </a:rPr>
              <a:t>Forever and ever and ever.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858000" cy="12188952"/>
          </a:xfrm>
          <a:prstGeom prst="rect">
            <a:avLst/>
          </a:prstGeom>
          <a:ln>
            <a:noFill/>
          </a:ln>
          <a:gradFill flip="none" rotWithShape="1">
            <a:gsLst>
              <a:gs pos="0">
                <a:srgbClr val="F5E6FF"/>
              </a:gs>
              <a:gs pos="100000">
                <a:srgbClr val="D8F5EC"/>
              </a:gs>
            </a:gsLst>
            <a:lin ang="8100000" scaled="0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731520"/>
            <a:ext cx="2286000" cy="502920"/>
          </a:xfrm>
          <a:prstGeom prst="roundRect">
            <a:avLst>
              <a:gd name="adj" fmla="val 50000"/>
            </a:avLst>
          </a:prstGeom>
          <a:ln>
            <a:noFill/>
          </a:ln>
          <a:gradFill flip="none" rotWithShape="1">
            <a:gsLst>
              <a:gs pos="0">
                <a:srgbClr val="34D399"/>
              </a:gs>
              <a:gs pos="100000">
                <a:srgbClr val="14B8A6"/>
              </a:gs>
            </a:gsLst>
            <a:lin ang="0" scaled="0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36576" bIns="36576"/>
          <a:lstStyle/>
          <a:p>
            <a:pPr algn="ctr"/>
            <a:r>
              <a:rPr sz="1300" b="1">
                <a:solidFill>
                  <a:srgbClr val="FFFFFF"/>
                </a:solidFill>
                <a:latin typeface="Inter"/>
              </a:rPr>
              <a:t>✨ THE FIX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594360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5600" b="1">
                <a:solidFill>
                  <a:srgbClr val="1A0B3F"/>
                </a:solidFill>
                <a:latin typeface="Inter"/>
              </a:rPr>
              <a:t>There's a</a:t>
            </a:r>
          </a:p>
          <a:p>
            <a:pPr algn="l">
              <a:lnSpc>
                <a:spcPct val="100000"/>
              </a:lnSpc>
            </a:pPr>
            <a:r>
              <a:rPr sz="5600" b="1">
                <a:solidFill>
                  <a:srgbClr val="1A0B3F"/>
                </a:solidFill>
                <a:latin typeface="Inter"/>
              </a:rPr>
              <a:t>better way.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4114800"/>
            <a:ext cx="3017520" cy="640080"/>
          </a:xfrm>
          <a:prstGeom prst="roundRect">
            <a:avLst>
              <a:gd name="adj" fmla="val 15000"/>
            </a:avLst>
          </a:prstGeom>
          <a:ln>
            <a:noFill/>
          </a:ln>
          <a:gradFill flip="none" rotWithShape="1">
            <a:gsLst>
              <a:gs pos="0">
                <a:srgbClr val="EF4444"/>
              </a:gs>
              <a:gs pos="100000">
                <a:srgbClr val="F43F5E"/>
              </a:gs>
            </a:gsLst>
            <a:lin ang="5400000" scaled="0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4251960"/>
            <a:ext cx="3017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>
                <a:solidFill>
                  <a:srgbClr val="FFFFFF"/>
                </a:solidFill>
                <a:latin typeface="Inter"/>
              </a:rPr>
              <a:t>❌ OLD WAY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520440" y="4114800"/>
            <a:ext cx="3017520" cy="640080"/>
          </a:xfrm>
          <a:prstGeom prst="roundRect">
            <a:avLst>
              <a:gd name="adj" fmla="val 15000"/>
            </a:avLst>
          </a:prstGeom>
          <a:ln>
            <a:noFill/>
          </a:ln>
          <a:gradFill flip="none" rotWithShape="1">
            <a:gsLst>
              <a:gs pos="0">
                <a:srgbClr val="34D399"/>
              </a:gs>
              <a:gs pos="100000">
                <a:srgbClr val="14B8A6"/>
              </a:gs>
            </a:gsLst>
            <a:lin ang="5400000" scaled="0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520440" y="4251960"/>
            <a:ext cx="3017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>
                <a:solidFill>
                  <a:srgbClr val="FFFFFF"/>
                </a:solidFill>
                <a:latin typeface="Inter"/>
              </a:rPr>
              <a:t>✅ FRAMEDROPS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4937760"/>
            <a:ext cx="3017520" cy="1005840"/>
          </a:xfrm>
          <a:prstGeom prst="roundRect">
            <a:avLst>
              <a:gd name="adj" fmla="val 12000"/>
            </a:avLst>
          </a:prstGeom>
          <a:ln>
            <a:noFill/>
          </a:ln>
          <a:gradFill flip="none" rotWithShape="1">
            <a:gsLst>
              <a:gs pos="0">
                <a:srgbClr val="FFE4E6"/>
              </a:gs>
              <a:gs pos="100000">
                <a:srgbClr val="FECACA"/>
              </a:gs>
            </a:gsLst>
            <a:lin ang="8100000" scaled="0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5166360"/>
            <a:ext cx="27432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1A0B3F"/>
                </a:solidFill>
                <a:latin typeface="Inter"/>
              </a:rPr>
              <a:t>Spam screenshots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20440" y="4937760"/>
            <a:ext cx="3017520" cy="1005840"/>
          </a:xfrm>
          <a:prstGeom prst="roundRect">
            <a:avLst>
              <a:gd name="adj" fmla="val 12000"/>
            </a:avLst>
          </a:prstGeom>
          <a:ln>
            <a:noFill/>
          </a:ln>
          <a:gradFill flip="none" rotWithShape="1">
            <a:gsLst>
              <a:gs pos="0">
                <a:srgbClr val="8B5CF6"/>
              </a:gs>
              <a:gs pos="100000">
                <a:srgbClr val="06B6D4"/>
              </a:gs>
            </a:gsLst>
            <a:lin ang="8100000" scaled="0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0" y="5166360"/>
            <a:ext cx="27432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FFFFFF"/>
                </a:solidFill>
                <a:latin typeface="Inter"/>
              </a:rPr>
              <a:t>One branded gallery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5760" y="6035040"/>
            <a:ext cx="3017520" cy="1005840"/>
          </a:xfrm>
          <a:prstGeom prst="roundRect">
            <a:avLst>
              <a:gd name="adj" fmla="val 12000"/>
            </a:avLst>
          </a:prstGeom>
          <a:ln>
            <a:noFill/>
          </a:ln>
          <a:gradFill flip="none" rotWithShape="1">
            <a:gsLst>
              <a:gs pos="0">
                <a:srgbClr val="FFE4E6"/>
              </a:gs>
              <a:gs pos="100000">
                <a:srgbClr val="FECACA"/>
              </a:gs>
            </a:gsLst>
            <a:lin ang="8100000" scaled="0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6263640"/>
            <a:ext cx="27432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1A0B3F"/>
                </a:solidFill>
                <a:latin typeface="Inter"/>
              </a:rPr>
              <a:t>Lost selections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520440" y="6035040"/>
            <a:ext cx="3017520" cy="1005840"/>
          </a:xfrm>
          <a:prstGeom prst="roundRect">
            <a:avLst>
              <a:gd name="adj" fmla="val 12000"/>
            </a:avLst>
          </a:prstGeom>
          <a:ln>
            <a:noFill/>
          </a:ln>
          <a:gradFill flip="none" rotWithShape="1">
            <a:gsLst>
              <a:gs pos="0">
                <a:srgbClr val="8B5CF6"/>
              </a:gs>
              <a:gs pos="100000">
                <a:srgbClr val="06B6D4"/>
              </a:gs>
            </a:gsLst>
            <a:lin ang="8100000" scaled="0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57600" y="6263640"/>
            <a:ext cx="27432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FFFFFF"/>
                </a:solidFill>
                <a:latin typeface="Inter"/>
              </a:rPr>
              <a:t>Auto-saved client picks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65760" y="7132320"/>
            <a:ext cx="3017520" cy="1005840"/>
          </a:xfrm>
          <a:prstGeom prst="roundRect">
            <a:avLst>
              <a:gd name="adj" fmla="val 12000"/>
            </a:avLst>
          </a:prstGeom>
          <a:ln>
            <a:noFill/>
          </a:ln>
          <a:gradFill flip="none" rotWithShape="1">
            <a:gsLst>
              <a:gs pos="0">
                <a:srgbClr val="FFE4E6"/>
              </a:gs>
              <a:gs pos="100000">
                <a:srgbClr val="FECACA"/>
              </a:gs>
            </a:gsLst>
            <a:lin ang="8100000" scaled="0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7360920"/>
            <a:ext cx="27432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1A0B3F"/>
                </a:solidFill>
                <a:latin typeface="Inter"/>
              </a:rPr>
              <a:t>Manual file copy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520440" y="7132320"/>
            <a:ext cx="3017520" cy="1005840"/>
          </a:xfrm>
          <a:prstGeom prst="roundRect">
            <a:avLst>
              <a:gd name="adj" fmla="val 12000"/>
            </a:avLst>
          </a:prstGeom>
          <a:ln>
            <a:noFill/>
          </a:ln>
          <a:gradFill flip="none" rotWithShape="1">
            <a:gsLst>
              <a:gs pos="0">
                <a:srgbClr val="8B5CF6"/>
              </a:gs>
              <a:gs pos="100000">
                <a:srgbClr val="06B6D4"/>
              </a:gs>
            </a:gsLst>
            <a:lin ang="8100000" scaled="0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57600" y="7360920"/>
            <a:ext cx="27432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FFFFFF"/>
                </a:solidFill>
                <a:latin typeface="Inter"/>
              </a:rPr>
              <a:t>Smart local transfer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65760" y="8229600"/>
            <a:ext cx="3017520" cy="1005840"/>
          </a:xfrm>
          <a:prstGeom prst="roundRect">
            <a:avLst>
              <a:gd name="adj" fmla="val 12000"/>
            </a:avLst>
          </a:prstGeom>
          <a:ln>
            <a:noFill/>
          </a:ln>
          <a:gradFill flip="none" rotWithShape="1">
            <a:gsLst>
              <a:gs pos="0">
                <a:srgbClr val="FFE4E6"/>
              </a:gs>
              <a:gs pos="100000">
                <a:srgbClr val="FECACA"/>
              </a:gs>
            </a:gsLst>
            <a:lin ang="8100000" scaled="0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2920" y="8458200"/>
            <a:ext cx="27432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1A0B3F"/>
                </a:solidFill>
                <a:latin typeface="Inter"/>
              </a:rPr>
              <a:t>Looks like a freelancer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520440" y="8229600"/>
            <a:ext cx="3017520" cy="1005840"/>
          </a:xfrm>
          <a:prstGeom prst="roundRect">
            <a:avLst>
              <a:gd name="adj" fmla="val 12000"/>
            </a:avLst>
          </a:prstGeom>
          <a:ln>
            <a:noFill/>
          </a:ln>
          <a:gradFill flip="none" rotWithShape="1">
            <a:gsLst>
              <a:gs pos="0">
                <a:srgbClr val="8B5CF6"/>
              </a:gs>
              <a:gs pos="100000">
                <a:srgbClr val="06B6D4"/>
              </a:gs>
            </a:gsLst>
            <a:lin ang="8100000" scaled="0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57600" y="8458200"/>
            <a:ext cx="27432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FFFFFF"/>
                </a:solidFill>
                <a:latin typeface="Inter"/>
              </a:rPr>
              <a:t>Looks like a studio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65760" y="9326880"/>
            <a:ext cx="3017520" cy="1005840"/>
          </a:xfrm>
          <a:prstGeom prst="roundRect">
            <a:avLst>
              <a:gd name="adj" fmla="val 12000"/>
            </a:avLst>
          </a:prstGeom>
          <a:ln>
            <a:noFill/>
          </a:ln>
          <a:gradFill flip="none" rotWithShape="1">
            <a:gsLst>
              <a:gs pos="0">
                <a:srgbClr val="FFE4E6"/>
              </a:gs>
              <a:gs pos="100000">
                <a:srgbClr val="FECACA"/>
              </a:gs>
            </a:gsLst>
            <a:lin ang="8100000" scaled="0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2920" y="9555480"/>
            <a:ext cx="27432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1A0B3F"/>
                </a:solidFill>
                <a:latin typeface="Inter"/>
              </a:rPr>
              <a:t>7-day back-and-forth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520440" y="9326880"/>
            <a:ext cx="3017520" cy="1005840"/>
          </a:xfrm>
          <a:prstGeom prst="roundRect">
            <a:avLst>
              <a:gd name="adj" fmla="val 12000"/>
            </a:avLst>
          </a:prstGeom>
          <a:ln>
            <a:noFill/>
          </a:ln>
          <a:gradFill flip="none" rotWithShape="1">
            <a:gsLst>
              <a:gs pos="0">
                <a:srgbClr val="8B5CF6"/>
              </a:gs>
              <a:gs pos="100000">
                <a:srgbClr val="06B6D4"/>
              </a:gs>
            </a:gsLst>
            <a:lin ang="8100000" scaled="0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57600" y="9555480"/>
            <a:ext cx="27432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FFFFFF"/>
                </a:solidFill>
                <a:latin typeface="Inter"/>
              </a:rPr>
              <a:t>Selections in 48 hours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65760" y="10424159"/>
            <a:ext cx="3017520" cy="1005840"/>
          </a:xfrm>
          <a:prstGeom prst="roundRect">
            <a:avLst>
              <a:gd name="adj" fmla="val 12000"/>
            </a:avLst>
          </a:prstGeom>
          <a:ln>
            <a:noFill/>
          </a:ln>
          <a:gradFill flip="none" rotWithShape="1">
            <a:gsLst>
              <a:gs pos="0">
                <a:srgbClr val="FFE4E6"/>
              </a:gs>
              <a:gs pos="100000">
                <a:srgbClr val="FECACA"/>
              </a:gs>
            </a:gsLst>
            <a:lin ang="8100000" scaled="0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02920" y="10652759"/>
            <a:ext cx="27432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1A0B3F"/>
                </a:solidFill>
                <a:latin typeface="Inter"/>
              </a:rPr>
              <a:t>Free but chaotic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520440" y="10424159"/>
            <a:ext cx="3017520" cy="1005840"/>
          </a:xfrm>
          <a:prstGeom prst="roundRect">
            <a:avLst>
              <a:gd name="adj" fmla="val 12000"/>
            </a:avLst>
          </a:prstGeom>
          <a:ln>
            <a:noFill/>
          </a:ln>
          <a:gradFill flip="none" rotWithShape="1">
            <a:gsLst>
              <a:gs pos="0">
                <a:srgbClr val="8B5CF6"/>
              </a:gs>
              <a:gs pos="100000">
                <a:srgbClr val="06B6D4"/>
              </a:gs>
            </a:gsLst>
            <a:lin ang="8100000" scaled="0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657600" y="10652759"/>
            <a:ext cx="27432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FFFFFF"/>
                </a:solidFill>
                <a:latin typeface="Inter"/>
              </a:rPr>
              <a:t>₹149 saves you 6 hours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858000" cy="12188952"/>
          </a:xfrm>
          <a:prstGeom prst="rect">
            <a:avLst/>
          </a:prstGeom>
          <a:ln>
            <a:noFill/>
          </a:ln>
          <a:gradFill flip="none" rotWithShape="1">
            <a:gsLst>
              <a:gs pos="0">
                <a:srgbClr val="0B1026"/>
              </a:gs>
              <a:gs pos="50000">
                <a:srgbClr val="1E1B4B"/>
              </a:gs>
              <a:gs pos="100000">
                <a:srgbClr val="6D28D9"/>
              </a:gs>
            </a:gsLst>
            <a:lin ang="10800000" scaled="0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828800" y="8229600"/>
            <a:ext cx="7315200" cy="7315200"/>
          </a:xfrm>
          <a:prstGeom prst="ellipse">
            <a:avLst/>
          </a:prstGeom>
          <a:ln>
            <a:noFill/>
          </a:ln>
          <a:gradFill flip="none" rotWithShape="1">
            <a:gsLst>
              <a:gs pos="0">
                <a:srgbClr val="D946EF"/>
              </a:gs>
              <a:gs pos="100000">
                <a:srgbClr val="6D28D9"/>
              </a:gs>
            </a:gsLst>
            <a:lin ang="2700000" scaled="0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4572000" y="-914400"/>
            <a:ext cx="4572000" cy="4572000"/>
          </a:xfrm>
          <a:prstGeom prst="ellipse">
            <a:avLst/>
          </a:prstGeom>
          <a:ln>
            <a:noFill/>
          </a:ln>
          <a:gradFill flip="none" rotWithShape="1">
            <a:gsLst>
              <a:gs pos="0">
                <a:srgbClr val="22D3EE"/>
              </a:gs>
              <a:gs pos="100000">
                <a:srgbClr val="8B5CF6"/>
              </a:gs>
            </a:gsLst>
            <a:lin ang="10800000" scaled="0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731520"/>
            <a:ext cx="2743200" cy="502920"/>
          </a:xfrm>
          <a:prstGeom prst="roundRect">
            <a:avLst>
              <a:gd name="adj" fmla="val 50000"/>
            </a:avLst>
          </a:prstGeom>
          <a:ln>
            <a:noFill/>
          </a:ln>
          <a:gradFill flip="none" rotWithShape="1">
            <a:gsLst>
              <a:gs pos="0">
                <a:srgbClr val="FBBF24"/>
              </a:gs>
              <a:gs pos="100000">
                <a:srgbClr val="FB7B2C"/>
              </a:gs>
            </a:gsLst>
            <a:lin ang="0" scaled="0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36576" bIns="36576"/>
          <a:lstStyle/>
          <a:p>
            <a:pPr algn="ctr"/>
            <a:r>
              <a:rPr sz="1300" b="1">
                <a:solidFill>
                  <a:srgbClr val="1A0B3F"/>
                </a:solidFill>
                <a:latin typeface="Inter"/>
              </a:rPr>
              <a:t>⚡ HOW IT WORKS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63040"/>
            <a:ext cx="594360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5400" b="1">
                <a:solidFill>
                  <a:srgbClr val="FFFFFF"/>
                </a:solidFill>
                <a:latin typeface="Inter"/>
              </a:rPr>
              <a:t>Shoot to</a:t>
            </a:r>
          </a:p>
          <a:p>
            <a:pPr algn="l">
              <a:lnSpc>
                <a:spcPct val="100000"/>
              </a:lnSpc>
            </a:pPr>
            <a:r>
              <a:rPr sz="5400" b="1">
                <a:solidFill>
                  <a:srgbClr val="FFFFFF"/>
                </a:solidFill>
                <a:latin typeface="Inter"/>
              </a:rPr>
              <a:t>selection in</a:t>
            </a:r>
          </a:p>
          <a:p>
            <a:pPr algn="l">
              <a:lnSpc>
                <a:spcPct val="100000"/>
              </a:lnSpc>
            </a:pPr>
            <a:r>
              <a:rPr sz="5400" b="1">
                <a:solidFill>
                  <a:srgbClr val="FFFFFF"/>
                </a:solidFill>
                <a:latin typeface="Inter"/>
              </a:rPr>
              <a:t>3 steps.</a:t>
            </a:r>
          </a:p>
        </p:txBody>
      </p:sp>
      <p:sp>
        <p:nvSpPr>
          <p:cNvPr id="7" name="Oval 6"/>
          <p:cNvSpPr/>
          <p:nvPr/>
        </p:nvSpPr>
        <p:spPr>
          <a:xfrm>
            <a:off x="457200" y="5029200"/>
            <a:ext cx="914400" cy="914400"/>
          </a:xfrm>
          <a:prstGeom prst="ellipse">
            <a:avLst/>
          </a:prstGeom>
          <a:ln>
            <a:noFill/>
          </a:ln>
          <a:gradFill flip="none" rotWithShape="1">
            <a:gsLst>
              <a:gs pos="0">
                <a:srgbClr val="22D3EE"/>
              </a:gs>
              <a:gs pos="100000">
                <a:srgbClr val="A855F7"/>
              </a:gs>
            </a:gsLst>
            <a:lin ang="8100000" scaled="0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5138928"/>
            <a:ext cx="91440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3000" b="1">
                <a:solidFill>
                  <a:srgbClr val="FFFFFF"/>
                </a:solidFill>
                <a:latin typeface="Inter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4983480"/>
            <a:ext cx="5029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>
                <a:solidFill>
                  <a:srgbClr val="FFFFFF"/>
                </a:solidFill>
                <a:latin typeface="Inter"/>
              </a:rPr>
              <a:t>📤  Upload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5577840"/>
            <a:ext cx="50292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>
                <a:solidFill>
                  <a:srgbClr val="A1A1AA"/>
                </a:solidFill>
                <a:latin typeface="Inter"/>
              </a:rPr>
              <a:t>Drag-drop your shoot. Auto-compressed.</a:t>
            </a:r>
          </a:p>
          <a:p>
            <a:pPr algn="l">
              <a:lnSpc>
                <a:spcPct val="140000"/>
              </a:lnSpc>
            </a:pPr>
            <a:r>
              <a:rPr sz="1300" b="0">
                <a:solidFill>
                  <a:srgbClr val="A1A1AA"/>
                </a:solidFill>
                <a:latin typeface="Inter"/>
              </a:rPr>
              <a:t>25 MB → 250 KB.</a:t>
            </a:r>
          </a:p>
        </p:txBody>
      </p:sp>
      <p:sp>
        <p:nvSpPr>
          <p:cNvPr id="11" name="Oval 10"/>
          <p:cNvSpPr/>
          <p:nvPr/>
        </p:nvSpPr>
        <p:spPr>
          <a:xfrm>
            <a:off x="457200" y="7223760"/>
            <a:ext cx="914400" cy="914400"/>
          </a:xfrm>
          <a:prstGeom prst="ellipse">
            <a:avLst/>
          </a:prstGeom>
          <a:ln>
            <a:noFill/>
          </a:ln>
          <a:gradFill flip="none" rotWithShape="1">
            <a:gsLst>
              <a:gs pos="0">
                <a:srgbClr val="A855F7"/>
              </a:gs>
              <a:gs pos="100000">
                <a:srgbClr val="EC4899"/>
              </a:gs>
            </a:gsLst>
            <a:lin ang="8100000" scaled="0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7333488"/>
            <a:ext cx="91440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3000" b="1">
                <a:solidFill>
                  <a:srgbClr val="FFFFFF"/>
                </a:solidFill>
                <a:latin typeface="Inter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7178040"/>
            <a:ext cx="5029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>
                <a:solidFill>
                  <a:srgbClr val="FFFFFF"/>
                </a:solidFill>
                <a:latin typeface="Inter"/>
              </a:rPr>
              <a:t>🔗  Share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54480" y="7772400"/>
            <a:ext cx="50292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>
                <a:solidFill>
                  <a:srgbClr val="A1A1AA"/>
                </a:solidFill>
                <a:latin typeface="Inter"/>
              </a:rPr>
              <a:t>One branded gallery link via WhatsApp.</a:t>
            </a:r>
          </a:p>
          <a:p>
            <a:pPr algn="l">
              <a:lnSpc>
                <a:spcPct val="140000"/>
              </a:lnSpc>
            </a:pPr>
            <a:r>
              <a:rPr sz="1300" b="0">
                <a:solidFill>
                  <a:srgbClr val="A1A1AA"/>
                </a:solidFill>
                <a:latin typeface="Inter"/>
              </a:rPr>
              <a:t>Client taps to view.</a:t>
            </a:r>
          </a:p>
        </p:txBody>
      </p:sp>
      <p:sp>
        <p:nvSpPr>
          <p:cNvPr id="15" name="Oval 14"/>
          <p:cNvSpPr/>
          <p:nvPr/>
        </p:nvSpPr>
        <p:spPr>
          <a:xfrm>
            <a:off x="457200" y="9418320"/>
            <a:ext cx="914400" cy="914400"/>
          </a:xfrm>
          <a:prstGeom prst="ellipse">
            <a:avLst/>
          </a:prstGeom>
          <a:ln>
            <a:noFill/>
          </a:ln>
          <a:gradFill flip="none" rotWithShape="1">
            <a:gsLst>
              <a:gs pos="0">
                <a:srgbClr val="F43F5E"/>
              </a:gs>
              <a:gs pos="100000">
                <a:srgbClr val="FB7B2C"/>
              </a:gs>
            </a:gsLst>
            <a:lin ang="8100000" scaled="0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9528048"/>
            <a:ext cx="91440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3000" b="1">
                <a:solidFill>
                  <a:srgbClr val="FFFFFF"/>
                </a:solidFill>
                <a:latin typeface="Inter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54480" y="9372600"/>
            <a:ext cx="5029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>
                <a:solidFill>
                  <a:srgbClr val="FFFFFF"/>
                </a:solidFill>
                <a:latin typeface="Inter"/>
              </a:rPr>
              <a:t>❤️  Get selections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54480" y="9966960"/>
            <a:ext cx="50292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>
                <a:solidFill>
                  <a:srgbClr val="A1A1AA"/>
                </a:solidFill>
                <a:latin typeface="Inter"/>
              </a:rPr>
              <a:t>Client taps the heart on favorites.</a:t>
            </a:r>
          </a:p>
          <a:p>
            <a:pPr algn="l">
              <a:lnSpc>
                <a:spcPct val="140000"/>
              </a:lnSpc>
            </a:pPr>
            <a:r>
              <a:rPr sz="1300" b="0">
                <a:solidFill>
                  <a:srgbClr val="A1A1AA"/>
                </a:solidFill>
                <a:latin typeface="Inter"/>
              </a:rPr>
              <a:t>No paper. No decoding.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858000" cy="12188952"/>
          </a:xfrm>
          <a:prstGeom prst="rect">
            <a:avLst/>
          </a:prstGeom>
          <a:ln>
            <a:noFill/>
          </a:ln>
          <a:gradFill flip="none" rotWithShape="1">
            <a:gsLst>
              <a:gs pos="0">
                <a:srgbClr val="FB7B2C"/>
              </a:gs>
              <a:gs pos="50000">
                <a:srgbClr val="F43F5E"/>
              </a:gs>
              <a:gs pos="100000">
                <a:srgbClr val="4C1D95"/>
              </a:gs>
            </a:gsLst>
            <a:lin ang="9600000" scaled="0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731520"/>
            <a:ext cx="3200400" cy="502920"/>
          </a:xfrm>
          <a:prstGeom prst="roundRect">
            <a:avLst>
              <a:gd name="adj" fmla="val 50000"/>
            </a:avLst>
          </a:prstGeom>
          <a:ln>
            <a:noFill/>
          </a:ln>
          <a:gradFill flip="none" rotWithShape="1">
            <a:gsLst>
              <a:gs pos="0">
                <a:srgbClr val="FDE047"/>
              </a:gs>
              <a:gs pos="100000">
                <a:srgbClr val="FBBF24"/>
              </a:gs>
            </a:gsLst>
            <a:lin ang="0" scaled="0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36576" bIns="36576"/>
          <a:lstStyle/>
          <a:p>
            <a:pPr algn="ctr"/>
            <a:r>
              <a:rPr sz="1300" b="1">
                <a:solidFill>
                  <a:srgbClr val="1A0B3F"/>
                </a:solidFill>
                <a:latin typeface="Inter"/>
              </a:rPr>
              <a:t>🇮🇳  MADE IN INDIA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594360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800" b="1">
                <a:solidFill>
                  <a:srgbClr val="FFFFFF"/>
                </a:solidFill>
                <a:latin typeface="Inter"/>
              </a:rPr>
              <a:t>Made for the</a:t>
            </a:r>
          </a:p>
          <a:p>
            <a:pPr algn="l">
              <a:lnSpc>
                <a:spcPct val="100000"/>
              </a:lnSpc>
            </a:pPr>
            <a:r>
              <a:rPr sz="4800" b="1">
                <a:solidFill>
                  <a:srgbClr val="FFFFFF"/>
                </a:solidFill>
                <a:latin typeface="Inter"/>
              </a:rPr>
              <a:t>Indian wedding.</a:t>
            </a:r>
          </a:p>
        </p:txBody>
      </p:sp>
      <p:sp>
        <p:nvSpPr>
          <p:cNvPr id="5" name="Oval 4"/>
          <p:cNvSpPr/>
          <p:nvPr/>
        </p:nvSpPr>
        <p:spPr>
          <a:xfrm>
            <a:off x="457200" y="4572000"/>
            <a:ext cx="822960" cy="822960"/>
          </a:xfrm>
          <a:prstGeom prst="ellipse">
            <a:avLst/>
          </a:prstGeom>
          <a:ln>
            <a:noFill/>
          </a:ln>
          <a:gradFill flip="none" rotWithShape="1">
            <a:gsLst>
              <a:gs pos="0">
                <a:srgbClr val="FB7B2C"/>
              </a:gs>
              <a:gs pos="100000">
                <a:srgbClr val="EF4444"/>
              </a:gs>
            </a:gsLst>
            <a:lin ang="2700000" scaled="0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4663440"/>
            <a:ext cx="82296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400" b="0">
                <a:solidFill>
                  <a:srgbClr val="FFFFFF"/>
                </a:solidFill>
                <a:latin typeface="Inter"/>
              </a:rPr>
              <a:t>🗣️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4617720"/>
            <a:ext cx="5212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700" b="1">
                <a:solidFill>
                  <a:srgbClr val="FFFFFF"/>
                </a:solidFill>
                <a:latin typeface="Inter"/>
              </a:rPr>
              <a:t>Three Indian languages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5029200"/>
            <a:ext cx="5212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FEE0F5"/>
                </a:solidFill>
                <a:latin typeface="Inter"/>
              </a:rPr>
              <a:t>English · Telugu · Hindi</a:t>
            </a:r>
          </a:p>
        </p:txBody>
      </p:sp>
      <p:sp>
        <p:nvSpPr>
          <p:cNvPr id="9" name="Oval 8"/>
          <p:cNvSpPr/>
          <p:nvPr/>
        </p:nvSpPr>
        <p:spPr>
          <a:xfrm>
            <a:off x="457200" y="5852160"/>
            <a:ext cx="822960" cy="822960"/>
          </a:xfrm>
          <a:prstGeom prst="ellipse">
            <a:avLst/>
          </a:prstGeom>
          <a:ln>
            <a:noFill/>
          </a:ln>
          <a:gradFill flip="none" rotWithShape="1">
            <a:gsLst>
              <a:gs pos="0">
                <a:srgbClr val="8B5CF6"/>
              </a:gs>
              <a:gs pos="100000">
                <a:srgbClr val="D946EF"/>
              </a:gs>
            </a:gsLst>
            <a:lin ang="2700000" scaled="0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5943600"/>
            <a:ext cx="82296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400" b="0">
                <a:solidFill>
                  <a:srgbClr val="FFFFFF"/>
                </a:solidFill>
                <a:latin typeface="Inter"/>
              </a:rPr>
              <a:t>💳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5897880"/>
            <a:ext cx="5212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700" b="1">
                <a:solidFill>
                  <a:srgbClr val="FFFFFF"/>
                </a:solidFill>
                <a:latin typeface="Inter"/>
              </a:rPr>
              <a:t>INR + GST native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63040" y="6309360"/>
            <a:ext cx="5212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FEE0F5"/>
                </a:solidFill>
                <a:latin typeface="Inter"/>
              </a:rPr>
              <a:t>Razorpay UPI checkout</a:t>
            </a:r>
          </a:p>
        </p:txBody>
      </p:sp>
      <p:sp>
        <p:nvSpPr>
          <p:cNvPr id="13" name="Oval 12"/>
          <p:cNvSpPr/>
          <p:nvPr/>
        </p:nvSpPr>
        <p:spPr>
          <a:xfrm>
            <a:off x="457200" y="7132320"/>
            <a:ext cx="822960" cy="822960"/>
          </a:xfrm>
          <a:prstGeom prst="ellipse">
            <a:avLst/>
          </a:prstGeom>
          <a:ln>
            <a:noFill/>
          </a:ln>
          <a:gradFill flip="none" rotWithShape="1">
            <a:gsLst>
              <a:gs pos="0">
                <a:srgbClr val="06B6D4"/>
              </a:gs>
              <a:gs pos="100000">
                <a:srgbClr val="14B8A6"/>
              </a:gs>
            </a:gsLst>
            <a:lin ang="2700000" scaled="0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7223760"/>
            <a:ext cx="82296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400" b="0">
                <a:solidFill>
                  <a:srgbClr val="FFFFFF"/>
                </a:solidFill>
                <a:latin typeface="Inter"/>
              </a:rPr>
              <a:t>📱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7178040"/>
            <a:ext cx="5212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700" b="1">
                <a:solidFill>
                  <a:srgbClr val="FFFFFF"/>
                </a:solidFill>
                <a:latin typeface="Inter"/>
              </a:rPr>
              <a:t>Mobile-first client view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63040" y="7589520"/>
            <a:ext cx="5212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FEE0F5"/>
                </a:solidFill>
                <a:latin typeface="Inter"/>
              </a:rPr>
              <a:t>Your clients live on phones</a:t>
            </a:r>
          </a:p>
        </p:txBody>
      </p:sp>
      <p:sp>
        <p:nvSpPr>
          <p:cNvPr id="17" name="Oval 16"/>
          <p:cNvSpPr/>
          <p:nvPr/>
        </p:nvSpPr>
        <p:spPr>
          <a:xfrm>
            <a:off x="457200" y="8412480"/>
            <a:ext cx="822960" cy="822960"/>
          </a:xfrm>
          <a:prstGeom prst="ellipse">
            <a:avLst/>
          </a:prstGeom>
          <a:ln>
            <a:noFill/>
          </a:ln>
          <a:gradFill flip="none" rotWithShape="1">
            <a:gsLst>
              <a:gs pos="0">
                <a:srgbClr val="34D399"/>
              </a:gs>
              <a:gs pos="100000">
                <a:srgbClr val="14B8A6"/>
              </a:gs>
            </a:gsLst>
            <a:lin ang="2700000" scaled="0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8503920"/>
            <a:ext cx="82296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400" b="0">
                <a:solidFill>
                  <a:srgbClr val="FFFFFF"/>
                </a:solidFill>
                <a:latin typeface="Inter"/>
              </a:rPr>
              <a:t>🏦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63040" y="8458200"/>
            <a:ext cx="5212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700" b="1">
                <a:solidFill>
                  <a:srgbClr val="FFFFFF"/>
                </a:solidFill>
                <a:latin typeface="Inter"/>
              </a:rPr>
              <a:t>Wallet → any Indian bank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63040" y="8869680"/>
            <a:ext cx="5212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FEE0F5"/>
                </a:solidFill>
                <a:latin typeface="Inter"/>
              </a:rPr>
              <a:t>NEFT payouts</a:t>
            </a:r>
          </a:p>
        </p:txBody>
      </p:sp>
      <p:sp>
        <p:nvSpPr>
          <p:cNvPr id="21" name="Oval 20"/>
          <p:cNvSpPr/>
          <p:nvPr/>
        </p:nvSpPr>
        <p:spPr>
          <a:xfrm>
            <a:off x="457200" y="9692640"/>
            <a:ext cx="822960" cy="822960"/>
          </a:xfrm>
          <a:prstGeom prst="ellipse">
            <a:avLst/>
          </a:prstGeom>
          <a:ln>
            <a:noFill/>
          </a:ln>
          <a:gradFill flip="none" rotWithShape="1">
            <a:gsLst>
              <a:gs pos="0">
                <a:srgbClr val="FBBF24"/>
              </a:gs>
              <a:gs pos="100000">
                <a:srgbClr val="FB7B2C"/>
              </a:gs>
            </a:gsLst>
            <a:lin ang="2700000" scaled="0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9784080"/>
            <a:ext cx="82296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400" b="0">
                <a:solidFill>
                  <a:srgbClr val="FFFFFF"/>
                </a:solidFill>
                <a:latin typeface="Inter"/>
              </a:rPr>
              <a:t>💸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63040" y="9738360"/>
            <a:ext cx="5212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700" b="1">
                <a:solidFill>
                  <a:srgbClr val="FFFFFF"/>
                </a:solidFill>
                <a:latin typeface="Inter"/>
              </a:rPr>
              <a:t>No monthly subscription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63040" y="10149840"/>
            <a:ext cx="5212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FEE0F5"/>
                </a:solidFill>
                <a:latin typeface="Inter"/>
              </a:rPr>
              <a:t>Pay only when you publish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858000" cy="12188952"/>
          </a:xfrm>
          <a:prstGeom prst="rect">
            <a:avLst/>
          </a:prstGeom>
          <a:ln>
            <a:noFill/>
          </a:ln>
          <a:gradFill flip="none" rotWithShape="1">
            <a:gsLst>
              <a:gs pos="0">
                <a:srgbClr val="FDE6FF"/>
              </a:gs>
              <a:gs pos="50000">
                <a:srgbClr val="E9D5FF"/>
              </a:gs>
              <a:gs pos="100000">
                <a:srgbClr val="CFFBFD"/>
              </a:gs>
            </a:gsLst>
            <a:lin ang="9600000" scaled="0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65760" y="548640"/>
            <a:ext cx="6126480" cy="914400"/>
          </a:xfrm>
          <a:prstGeom prst="roundRect">
            <a:avLst>
              <a:gd name="adj" fmla="val 10000"/>
            </a:avLst>
          </a:prstGeom>
          <a:ln>
            <a:noFill/>
          </a:ln>
          <a:gradFill flip="none" rotWithShape="1">
            <a:gsLst>
              <a:gs pos="0">
                <a:srgbClr val="6D28D9"/>
              </a:gs>
              <a:gs pos="50000">
                <a:srgbClr val="EC4899"/>
              </a:gs>
              <a:gs pos="100000">
                <a:srgbClr val="FB7B2C"/>
              </a:gs>
            </a:gsLst>
            <a:lin ang="5400000" scaled="0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685800"/>
            <a:ext cx="1828800" cy="365760"/>
          </a:xfrm>
          <a:prstGeom prst="roundRect">
            <a:avLst>
              <a:gd name="adj" fmla="val 50000"/>
            </a:avLst>
          </a:prstGeom>
          <a:ln>
            <a:noFill/>
          </a:ln>
          <a:gradFill flip="none" rotWithShape="1">
            <a:gsLst>
              <a:gs pos="0">
                <a:srgbClr val="FBBF24"/>
              </a:gs>
              <a:gs pos="100000">
                <a:srgbClr val="FB7B2C"/>
              </a:gs>
            </a:gsLst>
            <a:lin ang="0" scaled="0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36576" bIns="36576"/>
          <a:lstStyle/>
          <a:p>
            <a:pPr algn="ctr"/>
            <a:r>
              <a:rPr sz="1000" b="1">
                <a:solidFill>
                  <a:srgbClr val="1A0B3F"/>
                </a:solidFill>
                <a:latin typeface="Inter"/>
              </a:rPr>
              <a:t>🚀 LAUNCH OFFER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97280"/>
            <a:ext cx="5760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FFFFFF"/>
                </a:solidFill>
                <a:latin typeface="Inter"/>
              </a:rPr>
              <a:t>First 100 photographers · Locked-in rates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737360"/>
            <a:ext cx="61264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200" b="1">
                <a:solidFill>
                  <a:srgbClr val="1A0B3F"/>
                </a:solidFill>
                <a:latin typeface="Inter"/>
              </a:rPr>
              <a:t>Simple,</a:t>
            </a:r>
          </a:p>
          <a:p>
            <a:pPr algn="l">
              <a:lnSpc>
                <a:spcPct val="100000"/>
              </a:lnSpc>
            </a:pPr>
            <a:r>
              <a:rPr sz="4200" b="1">
                <a:solidFill>
                  <a:srgbClr val="1A0B3F"/>
                </a:solidFill>
                <a:latin typeface="Inter"/>
              </a:rPr>
              <a:t>honest pricing.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4114800"/>
            <a:ext cx="6126480" cy="914400"/>
          </a:xfrm>
          <a:prstGeom prst="roundRect">
            <a:avLst>
              <a:gd name="adj" fmla="val 10000"/>
            </a:avLst>
          </a:prstGeom>
          <a:ln>
            <a:noFill/>
          </a:ln>
          <a:gradFill flip="none" rotWithShape="1">
            <a:gsLst>
              <a:gs pos="0">
                <a:srgbClr val="1E1B4B"/>
              </a:gs>
              <a:gs pos="100000">
                <a:srgbClr val="6D28D9"/>
              </a:gs>
            </a:gsLst>
            <a:lin ang="5400000" scaled="0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4206240"/>
            <a:ext cx="5943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FFFFFF"/>
                </a:solidFill>
                <a:latin typeface="Inter"/>
              </a:rPr>
              <a:t>🎁  First 300 images — FREE for life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572000"/>
            <a:ext cx="5943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C8B8FF"/>
                </a:solidFill>
                <a:latin typeface="Inter"/>
              </a:rPr>
              <a:t>No credit card. Setup in 2 minutes.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5394960"/>
            <a:ext cx="6126480" cy="1737360"/>
          </a:xfrm>
          <a:prstGeom prst="roundRect">
            <a:avLst>
              <a:gd name="adj" fmla="val 7000"/>
            </a:avLst>
          </a:prstGeom>
          <a:ln>
            <a:noFill/>
          </a:ln>
          <a:gradFill flip="none" rotWithShape="1">
            <a:gsLst>
              <a:gs pos="0">
                <a:srgbClr val="22D3EE"/>
              </a:gs>
              <a:gs pos="100000">
                <a:srgbClr val="8B5CF6"/>
              </a:gs>
            </a:gsLst>
            <a:lin ang="8100000" scaled="0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5577840"/>
            <a:ext cx="3200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FFFFFF"/>
                </a:solidFill>
                <a:latin typeface="Inter"/>
              </a:rPr>
              <a:t>STARTER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5943600"/>
            <a:ext cx="22860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1">
                <a:solidFill>
                  <a:srgbClr val="FFFFFF"/>
                </a:solidFill>
                <a:latin typeface="Inter"/>
              </a:rPr>
              <a:t>₹149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6766560"/>
            <a:ext cx="1828800" cy="45720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l"/>
            <a:r>
              <a:rPr sz="1400" b="1" strike="sngStrike">
                <a:solidFill>
                  <a:srgbClr val="FFE69C"/>
                </a:solidFill>
                <a:latin typeface="Inter"/>
              </a:rPr>
              <a:t>₹199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0" y="5943600"/>
            <a:ext cx="3108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400" b="1">
                <a:solidFill>
                  <a:srgbClr val="FFFFFF"/>
                </a:solidFill>
                <a:latin typeface="Inter"/>
              </a:rPr>
              <a:t>Up to 1,000 photos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0400" y="6355080"/>
            <a:ext cx="3108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300" b="1">
                <a:solidFill>
                  <a:srgbClr val="FBBF24"/>
                </a:solidFill>
                <a:latin typeface="Inter"/>
              </a:rPr>
              <a:t>₹0.15/img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0" y="6812280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F0E5FF"/>
                </a:solidFill>
                <a:latin typeface="Inter"/>
              </a:rPr>
              <a:t>Pay only when you publish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65760" y="7269480"/>
            <a:ext cx="6126480" cy="1874519"/>
          </a:xfrm>
          <a:prstGeom prst="roundRect">
            <a:avLst>
              <a:gd name="adj" fmla="val 7000"/>
            </a:avLst>
          </a:prstGeom>
          <a:ln w="38100">
            <a:solidFill>
              <a:srgbClr val="FBBF24"/>
            </a:solidFill>
          </a:ln>
          <a:gradFill flip="none" rotWithShape="1">
            <a:gsLst>
              <a:gs pos="0">
                <a:srgbClr val="EC4899"/>
              </a:gs>
              <a:gs pos="50000">
                <a:srgbClr val="D946EF"/>
              </a:gs>
              <a:gs pos="100000">
                <a:srgbClr val="8B5CF6"/>
              </a:gs>
            </a:gsLst>
            <a:lin ang="8100000" scaled="0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7452360"/>
            <a:ext cx="3200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FFFFFF"/>
                </a:solidFill>
                <a:latin typeface="Inter"/>
              </a:rPr>
              <a:t>⭐ MOST POPULAR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7818120"/>
            <a:ext cx="22860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1">
                <a:solidFill>
                  <a:srgbClr val="FFFFFF"/>
                </a:solidFill>
                <a:latin typeface="Inter"/>
              </a:rPr>
              <a:t>₹229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8641080"/>
            <a:ext cx="1828800" cy="45720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l"/>
            <a:r>
              <a:rPr sz="1400" b="1" strike="sngStrike">
                <a:solidFill>
                  <a:srgbClr val="FFE69C"/>
                </a:solidFill>
                <a:latin typeface="Inter"/>
              </a:rPr>
              <a:t>₹299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00400" y="7818120"/>
            <a:ext cx="3108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400" b="1">
                <a:solidFill>
                  <a:srgbClr val="FFFFFF"/>
                </a:solidFill>
                <a:latin typeface="Inter"/>
              </a:rPr>
              <a:t>Up to 2,000 photos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00400" y="8229600"/>
            <a:ext cx="3108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300" b="1">
                <a:solidFill>
                  <a:srgbClr val="FBBF24"/>
                </a:solidFill>
                <a:latin typeface="Inter"/>
              </a:rPr>
              <a:t>₹0.11/img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00400" y="8686800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F0E5FF"/>
                </a:solidFill>
                <a:latin typeface="Inter"/>
              </a:rPr>
              <a:t>Pay only when you publish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65760" y="9281160"/>
            <a:ext cx="6126480" cy="1737360"/>
          </a:xfrm>
          <a:prstGeom prst="roundRect">
            <a:avLst>
              <a:gd name="adj" fmla="val 7000"/>
            </a:avLst>
          </a:prstGeom>
          <a:ln>
            <a:noFill/>
          </a:ln>
          <a:gradFill flip="none" rotWithShape="1">
            <a:gsLst>
              <a:gs pos="0">
                <a:srgbClr val="FB7B2C"/>
              </a:gs>
              <a:gs pos="100000">
                <a:srgbClr val="F43F5E"/>
              </a:gs>
            </a:gsLst>
            <a:lin ang="8100000" scaled="0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9464040"/>
            <a:ext cx="3200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FFFFFF"/>
                </a:solidFill>
                <a:latin typeface="Inter"/>
              </a:rPr>
              <a:t>WEDDING PRO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9829800"/>
            <a:ext cx="22860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1">
                <a:solidFill>
                  <a:srgbClr val="FFFFFF"/>
                </a:solidFill>
                <a:latin typeface="Inter"/>
              </a:rPr>
              <a:t>₹299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10652760"/>
            <a:ext cx="1828800" cy="45720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l"/>
            <a:r>
              <a:rPr sz="1400" b="1" strike="sngStrike">
                <a:solidFill>
                  <a:srgbClr val="FFE69C"/>
                </a:solidFill>
                <a:latin typeface="Inter"/>
              </a:rPr>
              <a:t>₹399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00400" y="9829800"/>
            <a:ext cx="3108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400" b="1">
                <a:solidFill>
                  <a:srgbClr val="FFFFFF"/>
                </a:solidFill>
                <a:latin typeface="Inter"/>
              </a:rPr>
              <a:t>Up to 3,000 photos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00400" y="10241280"/>
            <a:ext cx="3108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300" b="1">
                <a:solidFill>
                  <a:srgbClr val="FBBF24"/>
                </a:solidFill>
                <a:latin typeface="Inter"/>
              </a:rPr>
              <a:t>₹0.10/img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200400" y="10698480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F0E5FF"/>
                </a:solidFill>
                <a:latin typeface="Inter"/>
              </a:rPr>
              <a:t>Pay only when you publish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858000" cy="12188952"/>
          </a:xfrm>
          <a:prstGeom prst="rect">
            <a:avLst/>
          </a:prstGeom>
          <a:ln>
            <a:noFill/>
          </a:ln>
          <a:gradFill flip="none" rotWithShape="1">
            <a:gsLst>
              <a:gs pos="0">
                <a:srgbClr val="1E1B4B"/>
              </a:gs>
              <a:gs pos="50000">
                <a:srgbClr val="6D28D9"/>
              </a:gs>
              <a:gs pos="100000">
                <a:srgbClr val="6B21A8"/>
              </a:gs>
            </a:gsLst>
            <a:lin ang="10800000" scaled="0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828800" y="5486400"/>
            <a:ext cx="7315200" cy="7315200"/>
          </a:xfrm>
          <a:prstGeom prst="ellipse">
            <a:avLst/>
          </a:prstGeom>
          <a:ln>
            <a:noFill/>
          </a:ln>
          <a:gradFill flip="none" rotWithShape="1">
            <a:gsLst>
              <a:gs pos="0">
                <a:srgbClr val="FBBF24"/>
              </a:gs>
              <a:gs pos="100000">
                <a:srgbClr val="FB7B2C"/>
              </a:gs>
            </a:gsLst>
            <a:lin ang="2700000" scaled="0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4572000" y="-1828800"/>
            <a:ext cx="5486400" cy="5486400"/>
          </a:xfrm>
          <a:prstGeom prst="ellipse">
            <a:avLst/>
          </a:prstGeom>
          <a:ln>
            <a:noFill/>
          </a:ln>
          <a:gradFill flip="none" rotWithShape="1">
            <a:gsLst>
              <a:gs pos="0">
                <a:srgbClr val="D946EF"/>
              </a:gs>
              <a:gs pos="100000">
                <a:srgbClr val="EC4899"/>
              </a:gs>
            </a:gsLst>
            <a:lin ang="10800000" scaled="0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731520"/>
            <a:ext cx="2743200" cy="502920"/>
          </a:xfrm>
          <a:prstGeom prst="roundRect">
            <a:avLst>
              <a:gd name="adj" fmla="val 50000"/>
            </a:avLst>
          </a:prstGeom>
          <a:ln>
            <a:noFill/>
          </a:ln>
          <a:gradFill flip="none" rotWithShape="1">
            <a:gsLst>
              <a:gs pos="0">
                <a:srgbClr val="FDE047"/>
              </a:gs>
              <a:gs pos="100000">
                <a:srgbClr val="FB7B2C"/>
              </a:gs>
            </a:gsLst>
            <a:lin ang="0" scaled="0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36576" bIns="36576"/>
          <a:lstStyle/>
          <a:p>
            <a:pPr algn="ctr"/>
            <a:r>
              <a:rPr sz="1300" b="1">
                <a:solidFill>
                  <a:srgbClr val="1A0B3F"/>
                </a:solidFill>
                <a:latin typeface="Inter"/>
              </a:rPr>
              <a:t>👑 LOOK PREMIUM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63040"/>
            <a:ext cx="5943600" cy="3657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5800" b="1">
                <a:solidFill>
                  <a:srgbClr val="FFFFFF"/>
                </a:solidFill>
                <a:latin typeface="Inter"/>
              </a:rPr>
              <a:t>Look like a</a:t>
            </a:r>
          </a:p>
          <a:p>
            <a:pPr algn="l">
              <a:lnSpc>
                <a:spcPct val="100000"/>
              </a:lnSpc>
            </a:pPr>
            <a:r>
              <a:rPr sz="5800" b="1">
                <a:solidFill>
                  <a:srgbClr val="FFFFFF"/>
                </a:solidFill>
                <a:latin typeface="Inter"/>
              </a:rPr>
              <a:t>₹2-lakh</a:t>
            </a:r>
          </a:p>
          <a:p>
            <a:pPr algn="l">
              <a:lnSpc>
                <a:spcPct val="100000"/>
              </a:lnSpc>
            </a:pPr>
            <a:r>
              <a:rPr sz="5800" b="1">
                <a:solidFill>
                  <a:srgbClr val="FFFFFF"/>
                </a:solidFill>
                <a:latin typeface="Inter"/>
              </a:rPr>
              <a:t>photographer.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4937760"/>
            <a:ext cx="2286000" cy="137160"/>
          </a:xfrm>
          <a:prstGeom prst="rect">
            <a:avLst/>
          </a:prstGeom>
          <a:gradFill flip="none" rotWithShape="1">
            <a:gsLst>
              <a:gs pos="0">
                <a:srgbClr val="FBBF24"/>
              </a:gs>
              <a:gs pos="100000">
                <a:srgbClr val="FB7B2C"/>
              </a:gs>
            </a:gsLst>
            <a:lin ang="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457200" y="5943600"/>
            <a:ext cx="411480" cy="411480"/>
          </a:xfrm>
          <a:prstGeom prst="ellipse">
            <a:avLst/>
          </a:prstGeom>
          <a:ln>
            <a:noFill/>
          </a:ln>
          <a:gradFill flip="none" rotWithShape="1">
            <a:gsLst>
              <a:gs pos="0">
                <a:srgbClr val="34D399"/>
              </a:gs>
              <a:gs pos="100000">
                <a:srgbClr val="22D3EE"/>
              </a:gs>
            </a:gsLst>
            <a:lin ang="2700000" scaled="0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5961888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>
                <a:solidFill>
                  <a:srgbClr val="FFFFFF"/>
                </a:solidFill>
                <a:latin typeface="Inter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5971032"/>
            <a:ext cx="5486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FFFFFF"/>
                </a:solidFill>
                <a:latin typeface="Inter"/>
              </a:rPr>
              <a:t>Custom studio branding on every gallery</a:t>
            </a:r>
          </a:p>
        </p:txBody>
      </p:sp>
      <p:sp>
        <p:nvSpPr>
          <p:cNvPr id="11" name="Oval 10"/>
          <p:cNvSpPr/>
          <p:nvPr/>
        </p:nvSpPr>
        <p:spPr>
          <a:xfrm>
            <a:off x="457200" y="6812280"/>
            <a:ext cx="411480" cy="411480"/>
          </a:xfrm>
          <a:prstGeom prst="ellipse">
            <a:avLst/>
          </a:prstGeom>
          <a:ln>
            <a:noFill/>
          </a:ln>
          <a:gradFill flip="none" rotWithShape="1">
            <a:gsLst>
              <a:gs pos="0">
                <a:srgbClr val="34D399"/>
              </a:gs>
              <a:gs pos="100000">
                <a:srgbClr val="22D3EE"/>
              </a:gs>
            </a:gsLst>
            <a:lin ang="2700000" scaled="0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6830568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>
                <a:solidFill>
                  <a:srgbClr val="FFFFFF"/>
                </a:solidFill>
                <a:latin typeface="Inter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6839712"/>
            <a:ext cx="5486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FFFFFF"/>
                </a:solidFill>
                <a:latin typeface="Inter"/>
              </a:rPr>
              <a:t>Watermarked, screenshot-protected previews</a:t>
            </a:r>
          </a:p>
        </p:txBody>
      </p:sp>
      <p:sp>
        <p:nvSpPr>
          <p:cNvPr id="14" name="Oval 13"/>
          <p:cNvSpPr/>
          <p:nvPr/>
        </p:nvSpPr>
        <p:spPr>
          <a:xfrm>
            <a:off x="457200" y="7680960"/>
            <a:ext cx="411480" cy="411480"/>
          </a:xfrm>
          <a:prstGeom prst="ellipse">
            <a:avLst/>
          </a:prstGeom>
          <a:ln>
            <a:noFill/>
          </a:ln>
          <a:gradFill flip="none" rotWithShape="1">
            <a:gsLst>
              <a:gs pos="0">
                <a:srgbClr val="34D399"/>
              </a:gs>
              <a:gs pos="100000">
                <a:srgbClr val="22D3EE"/>
              </a:gs>
            </a:gsLst>
            <a:lin ang="2700000" scaled="0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7699248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>
                <a:solidFill>
                  <a:srgbClr val="FFFFFF"/>
                </a:solidFill>
                <a:latin typeface="Inter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7708392"/>
            <a:ext cx="5486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FFFFFF"/>
                </a:solidFill>
                <a:latin typeface="Inter"/>
              </a:rPr>
              <a:t>Anti-download protection on originals</a:t>
            </a:r>
          </a:p>
        </p:txBody>
      </p:sp>
      <p:sp>
        <p:nvSpPr>
          <p:cNvPr id="17" name="Oval 16"/>
          <p:cNvSpPr/>
          <p:nvPr/>
        </p:nvSpPr>
        <p:spPr>
          <a:xfrm>
            <a:off x="457200" y="8549640"/>
            <a:ext cx="411480" cy="411480"/>
          </a:xfrm>
          <a:prstGeom prst="ellipse">
            <a:avLst/>
          </a:prstGeom>
          <a:ln>
            <a:noFill/>
          </a:ln>
          <a:gradFill flip="none" rotWithShape="1">
            <a:gsLst>
              <a:gs pos="0">
                <a:srgbClr val="34D399"/>
              </a:gs>
              <a:gs pos="100000">
                <a:srgbClr val="22D3EE"/>
              </a:gs>
            </a:gsLst>
            <a:lin ang="2700000" scaled="0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8567928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>
                <a:solidFill>
                  <a:srgbClr val="FFFFFF"/>
                </a:solidFill>
                <a:latin typeface="Inter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8577072"/>
            <a:ext cx="5486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FFFFFF"/>
                </a:solidFill>
                <a:latin typeface="Inter"/>
              </a:rPr>
              <a:t>Clients see YOUR name — not 'Framedrops'</a:t>
            </a:r>
          </a:p>
        </p:txBody>
      </p:sp>
      <p:sp>
        <p:nvSpPr>
          <p:cNvPr id="20" name="Oval 19"/>
          <p:cNvSpPr/>
          <p:nvPr/>
        </p:nvSpPr>
        <p:spPr>
          <a:xfrm>
            <a:off x="457200" y="9418319"/>
            <a:ext cx="411480" cy="411480"/>
          </a:xfrm>
          <a:prstGeom prst="ellipse">
            <a:avLst/>
          </a:prstGeom>
          <a:ln>
            <a:noFill/>
          </a:ln>
          <a:gradFill flip="none" rotWithShape="1">
            <a:gsLst>
              <a:gs pos="0">
                <a:srgbClr val="34D399"/>
              </a:gs>
              <a:gs pos="100000">
                <a:srgbClr val="22D3EE"/>
              </a:gs>
            </a:gsLst>
            <a:lin ang="2700000" scaled="0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9436607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>
                <a:solidFill>
                  <a:srgbClr val="FFFFFF"/>
                </a:solidFill>
                <a:latin typeface="Inter"/>
              </a:rPr>
              <a:t>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5840" y="9445751"/>
            <a:ext cx="5486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FFFFFF"/>
                </a:solidFill>
                <a:latin typeface="Inter"/>
              </a:rPr>
              <a:t>Look professional from day one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858000" cy="12188952"/>
          </a:xfrm>
          <a:prstGeom prst="rect">
            <a:avLst/>
          </a:prstGeom>
          <a:ln>
            <a:noFill/>
          </a:ln>
          <a:gradFill flip="none" rotWithShape="1">
            <a:gsLst>
              <a:gs pos="0">
                <a:srgbClr val="14B8A6"/>
              </a:gs>
              <a:gs pos="50000">
                <a:srgbClr val="06B6D4"/>
              </a:gs>
              <a:gs pos="100000">
                <a:srgbClr val="6D28D9"/>
              </a:gs>
            </a:gsLst>
            <a:lin ang="9600000" scaled="0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731520"/>
            <a:ext cx="2743200" cy="502920"/>
          </a:xfrm>
          <a:prstGeom prst="roundRect">
            <a:avLst>
              <a:gd name="adj" fmla="val 50000"/>
            </a:avLst>
          </a:prstGeom>
          <a:ln>
            <a:noFill/>
          </a:ln>
          <a:gradFill flip="none" rotWithShape="1">
            <a:gsLst>
              <a:gs pos="0">
                <a:srgbClr val="34D399"/>
              </a:gs>
              <a:gs pos="100000">
                <a:srgbClr val="FBBF24"/>
              </a:gs>
            </a:gsLst>
            <a:lin ang="0" scaled="0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36576" bIns="36576"/>
          <a:lstStyle/>
          <a:p>
            <a:pPr algn="ctr"/>
            <a:r>
              <a:rPr sz="1300" b="1">
                <a:solidFill>
                  <a:srgbClr val="1A0B3F"/>
                </a:solidFill>
                <a:latin typeface="Inter"/>
              </a:rPr>
              <a:t>💰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5943600" cy="3200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800" b="1">
                <a:solidFill>
                  <a:srgbClr val="FFFFFF"/>
                </a:solidFill>
                <a:latin typeface="Inter"/>
              </a:rPr>
              <a:t>₹149 pays</a:t>
            </a:r>
          </a:p>
          <a:p>
            <a:pPr algn="l">
              <a:lnSpc>
                <a:spcPct val="100000"/>
              </a:lnSpc>
            </a:pPr>
            <a:r>
              <a:rPr sz="4800" b="1">
                <a:solidFill>
                  <a:srgbClr val="FFFFFF"/>
                </a:solidFill>
                <a:latin typeface="Inter"/>
              </a:rPr>
              <a:t>for itself in</a:t>
            </a:r>
          </a:p>
          <a:p>
            <a:pPr algn="l">
              <a:lnSpc>
                <a:spcPct val="100000"/>
              </a:lnSpc>
            </a:pPr>
            <a:r>
              <a:rPr sz="4800" b="1">
                <a:solidFill>
                  <a:srgbClr val="FFFFFF"/>
                </a:solidFill>
                <a:latin typeface="Inter"/>
              </a:rPr>
              <a:t>15 minutes.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5486400"/>
            <a:ext cx="5943600" cy="1325880"/>
          </a:xfrm>
          <a:prstGeom prst="roundRect">
            <a:avLst>
              <a:gd name="adj" fmla="val 10000"/>
            </a:avLst>
          </a:prstGeom>
          <a:ln>
            <a:noFill/>
          </a:ln>
          <a:gradFill flip="none" rotWithShape="1">
            <a:gsLst>
              <a:gs pos="0">
                <a:srgbClr val="FB7B2C"/>
              </a:gs>
              <a:gs pos="100000">
                <a:srgbClr val="EC4899"/>
              </a:gs>
            </a:gsLst>
            <a:lin ang="8100000" scaled="0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5715000"/>
            <a:ext cx="274320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FFFFFF"/>
                </a:solidFill>
                <a:latin typeface="Inter"/>
              </a:rPr>
              <a:t>6+ hrs</a:t>
            </a:r>
          </a:p>
        </p:txBody>
      </p:sp>
      <p:sp>
        <p:nvSpPr>
          <p:cNvPr id="7" name="Rectangle 6"/>
          <p:cNvSpPr/>
          <p:nvPr/>
        </p:nvSpPr>
        <p:spPr>
          <a:xfrm>
            <a:off x="3474720" y="5897880"/>
            <a:ext cx="36576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0" y="5760720"/>
            <a:ext cx="265176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>
                <a:solidFill>
                  <a:srgbClr val="FFFFFF"/>
                </a:solidFill>
                <a:latin typeface="Inter"/>
              </a:rPr>
              <a:t>Saved per wedding — no decoding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6949440"/>
            <a:ext cx="5943600" cy="1325880"/>
          </a:xfrm>
          <a:prstGeom prst="roundRect">
            <a:avLst>
              <a:gd name="adj" fmla="val 10000"/>
            </a:avLst>
          </a:prstGeom>
          <a:ln>
            <a:noFill/>
          </a:ln>
          <a:gradFill flip="none" rotWithShape="1">
            <a:gsLst>
              <a:gs pos="0">
                <a:srgbClr val="FBBF24"/>
              </a:gs>
              <a:gs pos="100000">
                <a:srgbClr val="FB7B2C"/>
              </a:gs>
            </a:gsLst>
            <a:lin ang="8100000" scaled="0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7178040"/>
            <a:ext cx="274320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FFFFFF"/>
                </a:solidFill>
                <a:latin typeface="Inter"/>
              </a:rPr>
              <a:t>Zero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474720" y="7360919"/>
            <a:ext cx="36576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0" y="7223759"/>
            <a:ext cx="265176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>
                <a:solidFill>
                  <a:srgbClr val="FFFFFF"/>
                </a:solidFill>
                <a:latin typeface="Inter"/>
              </a:rPr>
              <a:t>File-by-file Drive searching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8412480"/>
            <a:ext cx="5943600" cy="1325880"/>
          </a:xfrm>
          <a:prstGeom prst="roundRect">
            <a:avLst>
              <a:gd name="adj" fmla="val 10000"/>
            </a:avLst>
          </a:prstGeom>
          <a:ln>
            <a:noFill/>
          </a:ln>
          <a:gradFill flip="none" rotWithShape="1">
            <a:gsLst>
              <a:gs pos="0">
                <a:srgbClr val="22D3EE"/>
              </a:gs>
              <a:gs pos="100000">
                <a:srgbClr val="8B5CF6"/>
              </a:gs>
            </a:gsLst>
            <a:lin ang="8100000" scaled="0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8641080"/>
            <a:ext cx="274320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FFFFFF"/>
                </a:solidFill>
                <a:latin typeface="Inter"/>
              </a:rPr>
              <a:t>48 hrs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474720" y="8823959"/>
            <a:ext cx="36576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57600" y="8686800"/>
            <a:ext cx="265176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>
                <a:solidFill>
                  <a:srgbClr val="FFFFFF"/>
                </a:solidFill>
                <a:latin typeface="Inter"/>
              </a:rPr>
              <a:t>Shoot → selection (vs 7+ days)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9875519"/>
            <a:ext cx="5943600" cy="1325880"/>
          </a:xfrm>
          <a:prstGeom prst="roundRect">
            <a:avLst>
              <a:gd name="adj" fmla="val 10000"/>
            </a:avLst>
          </a:prstGeom>
          <a:ln>
            <a:noFill/>
          </a:ln>
          <a:gradFill flip="none" rotWithShape="1">
            <a:gsLst>
              <a:gs pos="0">
                <a:srgbClr val="34D399"/>
              </a:gs>
              <a:gs pos="100000">
                <a:srgbClr val="14B8A6"/>
              </a:gs>
            </a:gsLst>
            <a:lin ang="8100000" scaled="0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10104119"/>
            <a:ext cx="274320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FFFFFF"/>
                </a:solidFill>
                <a:latin typeface="Inter"/>
              </a:rPr>
              <a:t>₹500-2k/hr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474720" y="10286999"/>
            <a:ext cx="36576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57600" y="10149840"/>
            <a:ext cx="265176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>
                <a:solidFill>
                  <a:srgbClr val="FFFFFF"/>
                </a:solidFill>
                <a:latin typeface="Inter"/>
              </a:rPr>
              <a:t>What your time is worth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858000" cy="12188952"/>
          </a:xfrm>
          <a:prstGeom prst="rect">
            <a:avLst/>
          </a:prstGeom>
          <a:ln>
            <a:noFill/>
          </a:ln>
          <a:gradFill flip="none" rotWithShape="1">
            <a:gsLst>
              <a:gs pos="0">
                <a:srgbClr val="FDF4FF"/>
              </a:gs>
              <a:gs pos="100000">
                <a:srgbClr val="E9D5FF"/>
              </a:gs>
            </a:gsLst>
            <a:lin ang="9600000" scaled="0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731520"/>
            <a:ext cx="2743200" cy="502920"/>
          </a:xfrm>
          <a:prstGeom prst="roundRect">
            <a:avLst>
              <a:gd name="adj" fmla="val 50000"/>
            </a:avLst>
          </a:prstGeom>
          <a:ln>
            <a:noFill/>
          </a:ln>
          <a:gradFill flip="none" rotWithShape="1">
            <a:gsLst>
              <a:gs pos="0">
                <a:srgbClr val="D946EF"/>
              </a:gs>
              <a:gs pos="100000">
                <a:srgbClr val="6D28D9"/>
              </a:gs>
            </a:gsLst>
            <a:lin ang="0" scaled="0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36576" bIns="36576"/>
          <a:lstStyle/>
          <a:p>
            <a:pPr algn="ctr"/>
            <a:r>
              <a:rPr sz="1300" b="1">
                <a:solidFill>
                  <a:srgbClr val="FFFFFF"/>
                </a:solidFill>
                <a:latin typeface="Inter"/>
              </a:rPr>
              <a:t>🆚 COMPARISON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5943600" cy="228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600" b="1">
                <a:solidFill>
                  <a:srgbClr val="1A0B3F"/>
                </a:solidFill>
                <a:latin typeface="Inter"/>
              </a:rPr>
              <a:t>Why not free</a:t>
            </a:r>
          </a:p>
          <a:p>
            <a:pPr algn="l">
              <a:lnSpc>
                <a:spcPct val="100000"/>
              </a:lnSpc>
            </a:pPr>
            <a:r>
              <a:rPr sz="4600" b="1">
                <a:solidFill>
                  <a:srgbClr val="1A0B3F"/>
                </a:solidFill>
                <a:latin typeface="Inter"/>
              </a:rPr>
              <a:t>cloud + paper?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657600"/>
            <a:ext cx="5943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475569"/>
                </a:solidFill>
                <a:latin typeface="Inter"/>
              </a:rPr>
              <a:t>Because 'free' has a hidden cost.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4572000"/>
            <a:ext cx="6126480" cy="3200400"/>
          </a:xfrm>
          <a:prstGeom prst="roundRect">
            <a:avLst>
              <a:gd name="adj" fmla="val 7000"/>
            </a:avLst>
          </a:prstGeom>
          <a:ln w="25400">
            <a:solidFill>
              <a:srgbClr val="EF4444"/>
            </a:solidFill>
          </a:ln>
          <a:gradFill flip="none" rotWithShape="1">
            <a:gsLst>
              <a:gs pos="0">
                <a:srgbClr val="FFE4E6"/>
              </a:gs>
              <a:gs pos="100000">
                <a:srgbClr val="FCA5A5"/>
              </a:gs>
            </a:gsLst>
            <a:lin ang="8100000" scaled="0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475488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EF4444"/>
                </a:solidFill>
                <a:latin typeface="Inter"/>
              </a:rPr>
              <a:t>THE OLD WAY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5120640"/>
            <a:ext cx="5486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1A0B3F"/>
                </a:solidFill>
                <a:latin typeface="Inter"/>
              </a:rPr>
              <a:t>Free cloud + paper lists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760720"/>
            <a:ext cx="548640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70000"/>
              </a:lnSpc>
            </a:pPr>
            <a:r>
              <a:rPr sz="1200" b="0">
                <a:solidFill>
                  <a:srgbClr val="1A0B3F"/>
                </a:solidFill>
                <a:latin typeface="Inter"/>
              </a:rPr>
              <a:t>❌  Clients write file names on paper</a:t>
            </a:r>
          </a:p>
          <a:p>
            <a:pPr algn="l">
              <a:lnSpc>
                <a:spcPct val="170000"/>
              </a:lnSpc>
            </a:pPr>
            <a:r>
              <a:rPr sz="1200" b="0">
                <a:solidFill>
                  <a:srgbClr val="1A0B3F"/>
                </a:solidFill>
                <a:latin typeface="Inter"/>
              </a:rPr>
              <a:t>❌  You decode handwriting, file-by-file</a:t>
            </a:r>
          </a:p>
          <a:p>
            <a:pPr algn="l">
              <a:lnSpc>
                <a:spcPct val="170000"/>
              </a:lnSpc>
            </a:pPr>
            <a:r>
              <a:rPr sz="1200" b="0">
                <a:solidFill>
                  <a:srgbClr val="1A0B3F"/>
                </a:solidFill>
                <a:latin typeface="Inter"/>
              </a:rPr>
              <a:t>❌  No branding — looks like a hobbyist</a:t>
            </a:r>
          </a:p>
          <a:p>
            <a:pPr algn="l">
              <a:lnSpc>
                <a:spcPct val="170000"/>
              </a:lnSpc>
            </a:pPr>
            <a:r>
              <a:rPr sz="1200" b="0">
                <a:solidFill>
                  <a:srgbClr val="1A0B3F"/>
                </a:solidFill>
                <a:latin typeface="Inter"/>
              </a:rPr>
              <a:t>❌  Storage nags for paid upgrade</a:t>
            </a:r>
          </a:p>
          <a:p>
            <a:pPr algn="l">
              <a:lnSpc>
                <a:spcPct val="170000"/>
              </a:lnSpc>
            </a:pPr>
            <a:r>
              <a:rPr sz="1200" b="0">
                <a:solidFill>
                  <a:srgbClr val="1A0B3F"/>
                </a:solidFill>
                <a:latin typeface="Inter"/>
              </a:rPr>
              <a:t>❌  Misread one name → angry client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7955279"/>
            <a:ext cx="6126480" cy="3657600"/>
          </a:xfrm>
          <a:prstGeom prst="roundRect">
            <a:avLst>
              <a:gd name="adj" fmla="val 7000"/>
            </a:avLst>
          </a:prstGeom>
          <a:ln w="38100">
            <a:solidFill>
              <a:srgbClr val="FBBF24"/>
            </a:solidFill>
          </a:ln>
          <a:gradFill flip="none" rotWithShape="1">
            <a:gsLst>
              <a:gs pos="0">
                <a:srgbClr val="6D28D9"/>
              </a:gs>
              <a:gs pos="50000">
                <a:srgbClr val="EC4899"/>
              </a:gs>
              <a:gs pos="100000">
                <a:srgbClr val="FB7B2C"/>
              </a:gs>
            </a:gsLst>
            <a:lin ang="8100000" scaled="0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40080" y="8138160"/>
            <a:ext cx="1828800" cy="365760"/>
          </a:xfrm>
          <a:prstGeom prst="roundRect">
            <a:avLst>
              <a:gd name="adj" fmla="val 50000"/>
            </a:avLst>
          </a:prstGeom>
          <a:ln>
            <a:noFill/>
          </a:ln>
          <a:gradFill flip="none" rotWithShape="1">
            <a:gsLst>
              <a:gs pos="0">
                <a:srgbClr val="FBBF24"/>
              </a:gs>
              <a:gs pos="100000">
                <a:srgbClr val="FB7B2C"/>
              </a:gs>
            </a:gsLst>
            <a:lin ang="0" scaled="0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36576" bIns="36576"/>
          <a:lstStyle/>
          <a:p>
            <a:pPr algn="ctr"/>
            <a:r>
              <a:rPr sz="1000" b="1">
                <a:solidFill>
                  <a:srgbClr val="1A0B3F"/>
                </a:solidFill>
                <a:latin typeface="Inter"/>
              </a:rPr>
              <a:t>⭐ FRAMEDROPS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8595360"/>
            <a:ext cx="5486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>
                <a:solidFill>
                  <a:srgbClr val="FFFFFF"/>
                </a:solidFill>
                <a:latin typeface="Inter"/>
              </a:rPr>
              <a:t>₹149 per album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9189720"/>
            <a:ext cx="5486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FFE9F7"/>
                </a:solidFill>
                <a:latin typeface="Inter"/>
              </a:rPr>
              <a:t>(only when you publish)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9692640"/>
            <a:ext cx="548640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70000"/>
              </a:lnSpc>
            </a:pPr>
            <a:r>
              <a:rPr sz="1200" b="0">
                <a:solidFill>
                  <a:srgbClr val="FFFFFF"/>
                </a:solidFill>
                <a:latin typeface="Inter"/>
              </a:rPr>
              <a:t>✅  Pay zero when you don't shoot</a:t>
            </a:r>
          </a:p>
          <a:p>
            <a:pPr algn="l">
              <a:lnSpc>
                <a:spcPct val="170000"/>
              </a:lnSpc>
            </a:pPr>
            <a:r>
              <a:rPr sz="1200" b="0">
                <a:solidFill>
                  <a:srgbClr val="FFFFFF"/>
                </a:solidFill>
                <a:latin typeface="Inter"/>
              </a:rPr>
              <a:t>✅  INR-native — no FX surprises</a:t>
            </a:r>
          </a:p>
          <a:p>
            <a:pPr algn="l">
              <a:lnSpc>
                <a:spcPct val="170000"/>
              </a:lnSpc>
            </a:pPr>
            <a:r>
              <a:rPr sz="1200" b="0">
                <a:solidFill>
                  <a:srgbClr val="FFFFFF"/>
                </a:solidFill>
                <a:latin typeface="Inter"/>
              </a:rPr>
              <a:t>✅  English, Telugu, Hindi</a:t>
            </a:r>
          </a:p>
          <a:p>
            <a:pPr algn="l">
              <a:lnSpc>
                <a:spcPct val="170000"/>
              </a:lnSpc>
            </a:pPr>
            <a:r>
              <a:rPr sz="1200" b="0">
                <a:solidFill>
                  <a:srgbClr val="FFFFFF"/>
                </a:solidFill>
                <a:latin typeface="Inter"/>
              </a:rPr>
              <a:t>✅  GST invoices + Razorpay UPI</a:t>
            </a:r>
          </a:p>
          <a:p>
            <a:pPr algn="l">
              <a:lnSpc>
                <a:spcPct val="170000"/>
              </a:lnSpc>
            </a:pPr>
            <a:r>
              <a:rPr sz="1200" b="0">
                <a:solidFill>
                  <a:srgbClr val="FFFFFF"/>
                </a:solidFill>
                <a:latin typeface="Inter"/>
              </a:rPr>
              <a:t>✅  Built in India, for Indian weddings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858000" cy="12188952"/>
          </a:xfrm>
          <a:prstGeom prst="rect">
            <a:avLst/>
          </a:prstGeom>
          <a:ln>
            <a:noFill/>
          </a:ln>
          <a:gradFill flip="none" rotWithShape="1">
            <a:gsLst>
              <a:gs pos="0">
                <a:srgbClr val="1E1B4B"/>
              </a:gs>
              <a:gs pos="30000">
                <a:srgbClr val="4C1D95"/>
              </a:gs>
              <a:gs pos="70000">
                <a:srgbClr val="EC4899"/>
              </a:gs>
              <a:gs pos="100000">
                <a:srgbClr val="FB7B2C"/>
              </a:gs>
            </a:gsLst>
            <a:lin ang="9600000" scaled="0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2743200" y="7315200"/>
            <a:ext cx="10972800" cy="10972800"/>
          </a:xfrm>
          <a:prstGeom prst="ellipse">
            <a:avLst/>
          </a:prstGeom>
          <a:ln>
            <a:noFill/>
          </a:ln>
          <a:gradFill flip="none" rotWithShape="1">
            <a:gsLst>
              <a:gs pos="0">
                <a:srgbClr val="D946EF"/>
              </a:gs>
              <a:gs pos="100000">
                <a:srgbClr val="6D28D9"/>
              </a:gs>
            </a:gsLst>
            <a:lin ang="2700000" scaled="0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4572000" y="-1828800"/>
            <a:ext cx="5486400" cy="5486400"/>
          </a:xfrm>
          <a:prstGeom prst="ellipse">
            <a:avLst/>
          </a:prstGeom>
          <a:ln>
            <a:noFill/>
          </a:ln>
          <a:gradFill flip="none" rotWithShape="1">
            <a:gsLst>
              <a:gs pos="0">
                <a:srgbClr val="FBBF24"/>
              </a:gs>
              <a:gs pos="100000">
                <a:srgbClr val="FB7B2C"/>
              </a:gs>
            </a:gsLst>
            <a:lin ang="10800000" scaled="0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828800" y="914400"/>
            <a:ext cx="3200400" cy="548640"/>
          </a:xfrm>
          <a:prstGeom prst="roundRect">
            <a:avLst>
              <a:gd name="adj" fmla="val 50000"/>
            </a:avLst>
          </a:prstGeom>
          <a:ln>
            <a:noFill/>
          </a:ln>
          <a:gradFill flip="none" rotWithShape="1">
            <a:gsLst>
              <a:gs pos="0">
                <a:srgbClr val="FBBF24"/>
              </a:gs>
              <a:gs pos="100000">
                <a:srgbClr val="FB7B2C"/>
              </a:gs>
            </a:gsLst>
            <a:lin ang="0" scaled="0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36576" bIns="36576"/>
          <a:lstStyle/>
          <a:p>
            <a:pPr algn="ctr"/>
            <a:r>
              <a:rPr sz="1400" b="1">
                <a:solidFill>
                  <a:srgbClr val="1A0B3F"/>
                </a:solidFill>
                <a:latin typeface="Inter"/>
              </a:rPr>
              <a:t>✨ START FREE TODAY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286000"/>
            <a:ext cx="594360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6400" b="1">
                <a:solidFill>
                  <a:srgbClr val="FFFFFF"/>
                </a:solidFill>
                <a:latin typeface="Inter"/>
              </a:rPr>
              <a:t>Your next</a:t>
            </a:r>
          </a:p>
          <a:p>
            <a:pPr algn="l">
              <a:lnSpc>
                <a:spcPct val="100000"/>
              </a:lnSpc>
            </a:pPr>
            <a:r>
              <a:rPr sz="6400" b="1">
                <a:solidFill>
                  <a:srgbClr val="FFFFFF"/>
                </a:solidFill>
                <a:latin typeface="Inter"/>
              </a:rPr>
              <a:t>wedding</a:t>
            </a:r>
          </a:p>
          <a:p>
            <a:pPr algn="l">
              <a:lnSpc>
                <a:spcPct val="100000"/>
              </a:lnSpc>
            </a:pPr>
            <a:r>
              <a:rPr sz="6400" b="1">
                <a:solidFill>
                  <a:srgbClr val="FFFFFF"/>
                </a:solidFill>
                <a:latin typeface="Inter"/>
              </a:rPr>
              <a:t>deserves</a:t>
            </a:r>
          </a:p>
          <a:p>
            <a:pPr algn="l">
              <a:lnSpc>
                <a:spcPct val="100000"/>
              </a:lnSpc>
            </a:pPr>
            <a:r>
              <a:rPr sz="6400" b="1">
                <a:solidFill>
                  <a:srgbClr val="FFFFFF"/>
                </a:solidFill>
                <a:latin typeface="Inter"/>
              </a:rPr>
              <a:t>better.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7132320"/>
            <a:ext cx="5943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0">
                <a:solidFill>
                  <a:srgbClr val="FFE6F8"/>
                </a:solidFill>
                <a:latin typeface="Inter"/>
              </a:rPr>
              <a:t>🎁 300 free  ·  💳 No card  ·  ⚡ 2 min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8229600"/>
            <a:ext cx="5760720" cy="1828800"/>
          </a:xfrm>
          <a:prstGeom prst="roundRect">
            <a:avLst>
              <a:gd name="adj" fmla="val 8000"/>
            </a:avLst>
          </a:prstGeom>
          <a:ln>
            <a:noFill/>
          </a:ln>
          <a:gradFill flip="none" rotWithShape="1">
            <a:gsLst>
              <a:gs pos="0">
                <a:srgbClr val="6D28D9"/>
              </a:gs>
              <a:gs pos="100000">
                <a:srgbClr val="EC4899"/>
              </a:gs>
            </a:gsLst>
            <a:lin ang="8100000" scaled="0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57200" y="8092440"/>
            <a:ext cx="5760720" cy="1828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8229600"/>
            <a:ext cx="5760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6D28D9"/>
                </a:solidFill>
                <a:latin typeface="Inter"/>
              </a:rPr>
              <a:t>TRY FRAMEDROPS FREE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8686800"/>
            <a:ext cx="57607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600" b="1">
                <a:solidFill>
                  <a:srgbClr val="1A0B3F"/>
                </a:solidFill>
                <a:latin typeface="Inter"/>
              </a:rPr>
              <a:t>https://framedrops.in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286000" y="9509760"/>
            <a:ext cx="2103120" cy="54864"/>
          </a:xfrm>
          <a:prstGeom prst="rect">
            <a:avLst/>
          </a:prstGeom>
          <a:gradFill flip="none" rotWithShape="1">
            <a:gsLst>
              <a:gs pos="0">
                <a:srgbClr val="EC4899"/>
              </a:gs>
              <a:gs pos="100000">
                <a:srgbClr val="FB7B2C"/>
              </a:gs>
            </a:gsLst>
            <a:lin ang="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10515600"/>
            <a:ext cx="5943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 b="1">
                <a:solidFill>
                  <a:srgbClr val="FBBF24"/>
                </a:solidFill>
                <a:latin typeface="Inter"/>
              </a:rPr>
              <a:t>Stop chasing.  Start delivering.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