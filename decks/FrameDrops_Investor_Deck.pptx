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0653B"/>
                </a:solidFill>
                <a:latin typeface="Inter Tight"/>
              </a:rPr>
              <a:t>FRAMEDROPS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7F3EE"/>
                </a:solidFill>
                <a:latin typeface="Inter Tight"/>
              </a:rPr>
              <a:t>Modern photo delivery</a:t>
            </a:r>
          </a:p>
          <a:p>
            <a:pPr algn="l">
              <a:lnSpc>
                <a:spcPct val="100000"/>
              </a:lnSpc>
            </a:pPr>
            <a:r>
              <a:rPr sz="7200" b="1">
                <a:solidFill>
                  <a:srgbClr val="F7F3EE"/>
                </a:solidFill>
                <a:latin typeface="Inter Tight"/>
              </a:rPr>
              <a:t>for photographers.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9AA3B2"/>
                </a:solidFill>
                <a:latin typeface="Inter"/>
              </a:rPr>
              <a:t>Upload. Share. Select. Get paid.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943600"/>
            <a:ext cx="1051560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473"/>
                </a:solidFill>
                <a:latin typeface="Inter"/>
              </a:rPr>
              <a:t>Seed Round  ·  2026  ·  hello@framedrops.in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Photo delivery in India is stuck in 2010.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F0653B"/>
                </a:solidFill>
                <a:latin typeface="Inter Tight"/>
              </a:rPr>
              <a:t>70%+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3B2"/>
                </a:solidFill>
                <a:latin typeface="Inter"/>
              </a:rPr>
              <a:t>of Indian event photographers still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F7F3EE"/>
                </a:solidFill>
                <a:latin typeface="Inter"/>
              </a:rPr>
              <a:t>deliver via WhatsApp, Drive, or pen drives.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2606040"/>
            <a:ext cx="164592" cy="164592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4688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F7F3EE"/>
                </a:solidFill>
                <a:latin typeface="Inter"/>
              </a:rPr>
              <a:t>Compressed images. Expired links. Repeated re-uploads.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3383280"/>
            <a:ext cx="164592" cy="164592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324612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F7F3EE"/>
                </a:solidFill>
                <a:latin typeface="Inter"/>
              </a:rPr>
              <a:t>Clients can't pick favorites from 2,000 photos on a phone.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160520"/>
            <a:ext cx="164592" cy="164592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02336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F7F3EE"/>
                </a:solidFill>
                <a:latin typeface="Inter"/>
              </a:rPr>
              <a:t>Manual UPI follow-ups. Payments slip through the cracks.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4937760"/>
            <a:ext cx="164592" cy="164592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480060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F7F3EE"/>
                </a:solidFill>
                <a:latin typeface="Inter"/>
              </a:rPr>
              <a:t>Foreign tools cost ₹3,000+/mo and only speak English.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One link. From shoot to payout.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>
                <a:solidFill>
                  <a:srgbClr val="F7F3EE"/>
                </a:solidFill>
                <a:latin typeface="Inter"/>
              </a:rPr>
              <a:t>FrameDrops gives photographers a single private gallery link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F7F3EE"/>
                </a:solidFill>
                <a:latin typeface="Inter"/>
              </a:rPr>
              <a:t>to send clients — and a built-in checkout to get paid the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F7F3EE"/>
                </a:solidFill>
                <a:latin typeface="Inter"/>
              </a:rPr>
              <a:t>moment a client picks their favorites.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1206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2852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321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F7F3EE"/>
                </a:solidFill>
                <a:latin typeface="Inter Tight"/>
              </a:rPr>
              <a:t>UPLOAD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51206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52852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5321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F7F3EE"/>
                </a:solidFill>
                <a:latin typeface="Inter Tight"/>
              </a:rPr>
              <a:t>SHARE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51206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52852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55321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F7F3EE"/>
                </a:solidFill>
                <a:latin typeface="Inter Tight"/>
              </a:rPr>
              <a:t>SELECT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51206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528523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55321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F7F3EE"/>
                </a:solidFill>
                <a:latin typeface="Inter Tight"/>
              </a:rPr>
              <a:t>GET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India is in a wedding-photography boom.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3657600" cy="54864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7F3EE"/>
                </a:solidFill>
                <a:latin typeface="Inter Tight"/>
              </a:rPr>
              <a:t>₹1L Cr+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2"/>
                </a:solidFill>
                <a:latin typeface="Inter"/>
              </a:rPr>
              <a:t>Indian wedding industry,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2"/>
                </a:solidFill>
                <a:latin typeface="Inter"/>
              </a:rPr>
              <a:t>growing 10% YoY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65176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651760"/>
            <a:ext cx="3657600" cy="54864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32004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7F3EE"/>
                </a:solidFill>
                <a:latin typeface="Inter Tight"/>
              </a:rPr>
              <a:t>5M+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46634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2"/>
                </a:solidFill>
                <a:latin typeface="Inter"/>
              </a:rPr>
              <a:t>weddings, engagements,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2"/>
                </a:solidFill>
                <a:latin typeface="Inter"/>
              </a:rPr>
              <a:t>and pre-wedding shoots /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65176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651760"/>
            <a:ext cx="3657600" cy="54864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2004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7F3EE"/>
                </a:solidFill>
                <a:latin typeface="Inter Tight"/>
              </a:rPr>
              <a:t>200K+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66344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2"/>
                </a:solidFill>
                <a:latin typeface="Inter"/>
              </a:rPr>
              <a:t>active professional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9AA3B2"/>
                </a:solidFill>
                <a:latin typeface="Inter"/>
              </a:rPr>
              <a:t>photographers in India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Source: WPI / Indian wedding industry estimates. Internal market research.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Built around how photographers actually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73152" cy="155448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7F3EE"/>
                </a:solidFill>
                <a:latin typeface="Inter Tight"/>
              </a:rPr>
              <a:t>Background uploads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Resume on any device. Close the laptop, keep going.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6888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468880"/>
            <a:ext cx="73152" cy="155448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7F3EE"/>
                </a:solidFill>
                <a:latin typeface="Inter Tight"/>
              </a:rPr>
              <a:t>Mobile-first galleries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2461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70% of clients open on a phone. Designed for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46888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468880"/>
            <a:ext cx="73152" cy="155448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7F3EE"/>
                </a:solidFill>
                <a:latin typeface="Inter Tight"/>
              </a:rPr>
              <a:t>One-tap 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2461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Heart your favorites. Real-time counts on the photographer side.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73152" cy="155448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7F3EE"/>
                </a:solidFill>
                <a:latin typeface="Inter Tight"/>
              </a:rPr>
              <a:t>Built-in wallet &amp; payouts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834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Earnings flow into a wallet. Photographers withdraw to bank on demand.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420624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4206240"/>
            <a:ext cx="73152" cy="155448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44805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7F3EE"/>
                </a:solidFill>
                <a:latin typeface="Inter Tight"/>
              </a:rPr>
              <a:t>Multi-language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9834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English, Telugu, Hindi. Marathi &amp; Tamil next.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420624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4206240"/>
            <a:ext cx="73152" cy="155448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44805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7F3EE"/>
                </a:solidFill>
                <a:latin typeface="Inter Tight"/>
              </a:rPr>
              <a:t>Branded 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498348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Your studio name, your colors. Optional custom domain.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Premium experience. Local prices. Local languages.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08960"/>
            <a:ext cx="329184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0" y="2560320"/>
            <a:ext cx="2651760" cy="54864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0" y="310896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0" y="267004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E1116"/>
                </a:solidFill>
                <a:latin typeface="Inter Tight"/>
              </a:rPr>
              <a:t>FrameDrops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310896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67004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7F3EE"/>
                </a:solidFill>
                <a:latin typeface="Inter Tight"/>
              </a:rPr>
              <a:t>Pixieset / ShootProof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310896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267004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7F3EE"/>
                </a:solidFill>
                <a:latin typeface="Inter Tight"/>
              </a:rPr>
              <a:t>WhatsApp / Drive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57600"/>
            <a:ext cx="329184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1868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Pricing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3108960"/>
            <a:ext cx="2651760" cy="548640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32186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7F3EE"/>
                </a:solidFill>
                <a:latin typeface="Inter"/>
              </a:rPr>
              <a:t>Pay per album, ₹29–₹349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65760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2186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₹3,000+ / month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365760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2186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Free, but unusable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06240"/>
            <a:ext cx="329184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7673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Languages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3657600"/>
            <a:ext cx="2651760" cy="548640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40480" y="420624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0" y="37673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7F3EE"/>
                </a:solidFill>
                <a:latin typeface="Inter"/>
              </a:rPr>
              <a:t>EN · తె · हि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20624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37673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English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420624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37673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754880"/>
            <a:ext cx="329184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31596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Built-in payments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40480" y="4206240"/>
            <a:ext cx="2651760" cy="548640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40480" y="475488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60" y="43159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7F3EE"/>
                </a:solidFill>
                <a:latin typeface="Inter"/>
              </a:rPr>
              <a:t>UPI + cards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475488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3159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Limited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475488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43159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303520"/>
            <a:ext cx="329184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86460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Photo selection UX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0" y="4754880"/>
            <a:ext cx="2651760" cy="548640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0" y="530352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23360" y="486460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7F3EE"/>
                </a:solidFill>
                <a:latin typeface="Inter"/>
              </a:rPr>
              <a:t>One-tap, mobile-first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30352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486460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Yes (desktop-first)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530352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0" y="486460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Manual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852160"/>
            <a:ext cx="329184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41324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Built for India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5303520"/>
            <a:ext cx="2651760" cy="548640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40480" y="585216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23360" y="541324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7F3EE"/>
                </a:solidFill>
                <a:latin typeface="Inter"/>
              </a:rPr>
              <a:t>Yes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585216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541324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No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0" y="585216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541324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6400800"/>
            <a:ext cx="329184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596188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Mobile experience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0" y="5852160"/>
            <a:ext cx="2651760" cy="548640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840480" y="640080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23360" y="5961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7F3EE"/>
                </a:solidFill>
                <a:latin typeface="Inter"/>
              </a:rPr>
              <a:t>Native-feel, PWA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92240" y="640080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5120" y="5961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Mobile-friendly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4000" y="6400800"/>
            <a:ext cx="265176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Browser default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Pay-per-album usage + payment take rate.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5486400" cy="33832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0653B"/>
                </a:solidFill>
                <a:latin typeface="Inter Tight"/>
              </a:rPr>
              <a:t>1. PHOTOGRAPHER UNLOCK FEES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7F3EE"/>
                </a:solidFill>
                <a:latin typeface="Inter Tight"/>
              </a:rPr>
              <a:t>₹29 – ₹349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5262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per album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8348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Tiered by image count. Photographers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pay to unlock client downloads after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the 300-image lifetime free quota.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560320"/>
            <a:ext cx="5486400" cy="33832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3017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0653B"/>
                </a:solidFill>
                <a:latin typeface="Inter Tight"/>
              </a:rPr>
              <a:t>2. PAYMENT TAKE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7F3EE"/>
                </a:solidFill>
                <a:latin typeface="Inter Tight"/>
              </a:rPr>
              <a:t>Commission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262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on client → photographer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98348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Clients pay photographers in-platform.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Photographer earnings flow into a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FrameDrops wallet, minus platform fee.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473"/>
                </a:solidFill>
                <a:latin typeface="Inter"/>
              </a:rPr>
              <a:t>ARPU compounds: more shoots → more albums unlocked → more client payments → more take rate. No subscriptions.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98% gross margin. Profitable from photographer #1.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73152" cy="155448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7F3EE"/>
                </a:solidFill>
                <a:latin typeface="Inter Tight"/>
              </a:rPr>
              <a:t>₹511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revenue per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photographer / month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6888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468880"/>
            <a:ext cx="73152" cy="155448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6974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7F3EE"/>
                </a:solidFill>
                <a:latin typeface="Inter Tight"/>
              </a:rPr>
              <a:t>₹8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4747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infra cost per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photographer / month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468880"/>
            <a:ext cx="3657600" cy="155448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468880"/>
            <a:ext cx="73152" cy="155448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69748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7F3EE"/>
                </a:solidFill>
                <a:latin typeface="Inter Tight"/>
              </a:rPr>
              <a:t>98%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4747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gross margin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at 10K photographers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81728"/>
            <a:ext cx="320040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0" y="4681728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200" y="429768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4681728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429768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1,000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80" y="4681728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429768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10,000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0" y="4681728"/>
            <a:ext cx="155448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5560" y="429768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1M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065776"/>
            <a:ext cx="320040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68172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Albums / month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5065776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468172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396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5065776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89320" y="468172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3,960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80" y="5065776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92440" y="468172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39,600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0" y="5065776"/>
            <a:ext cx="155448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95560" y="468172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39.6 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449824"/>
            <a:ext cx="320040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06577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Total infra cost / mo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40" y="5449824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86200" y="5065776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₹2.8 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5449824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5065776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₹11.8 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80" y="5449824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92440" y="5065776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₹81 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58400" y="5449824"/>
            <a:ext cx="155448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5560" y="506577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₹39 Cr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833872"/>
            <a:ext cx="320040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44982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Revenue / mo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49040" y="5833872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86200" y="544982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₹51 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5833872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89320" y="544982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₹5.1 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55280" y="5833872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92440" y="544982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₹51 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5833872"/>
            <a:ext cx="155448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95560" y="544982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₹51 Cr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6217920"/>
            <a:ext cx="320040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5833872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Profit / mo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749040" y="6217920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86200" y="583387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₹48 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52160" y="6217920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583387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₹5.0 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80" y="6217920"/>
            <a:ext cx="210312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92440" y="5833872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₹50 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58400" y="6217920"/>
            <a:ext cx="155448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195560" y="5833872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₹50 Cr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621792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Gross margin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49040" y="6217920"/>
            <a:ext cx="2103120" cy="384048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886200" y="62179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0653B"/>
                </a:solidFill>
                <a:latin typeface="Inter Tight"/>
              </a:rPr>
              <a:t>94.5%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52160" y="6217920"/>
            <a:ext cx="2103120" cy="384048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89320" y="62179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0653B"/>
                </a:solidFill>
                <a:latin typeface="Inter Tight"/>
              </a:rPr>
              <a:t>97.7%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55280" y="6217920"/>
            <a:ext cx="2103120" cy="384048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92440" y="62179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0653B"/>
                </a:solidFill>
                <a:latin typeface="Inter Tight"/>
              </a:rPr>
              <a:t>98.4%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6217920"/>
            <a:ext cx="1554480" cy="384048"/>
          </a:xfrm>
          <a:prstGeom prst="rect">
            <a:avLst/>
          </a:prstGeom>
          <a:solidFill>
            <a:srgbClr val="1F1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95560" y="621792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0653B"/>
                </a:solidFill>
                <a:latin typeface="Inter Tight"/>
              </a:rPr>
              <a:t>99.2%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49040" y="393192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5A6473"/>
                </a:solidFill>
                <a:latin typeface="Inter Tight"/>
              </a:rPr>
              <a:t>ACTIVE PHOTOGRAPHERS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Compressed-only pipeline (~275 KB / photo) on Cloudflare R2 (zero egress) + Workers. 30-day retention. Excludes payment-processor fees and CAC.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A clear path to ₹100 Cr ARR.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10058400" cy="82296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0653B"/>
                </a:solidFill>
                <a:latin typeface="Inter Tight"/>
              </a:rPr>
              <a:t>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274320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7F3EE"/>
                </a:solidFill>
                <a:latin typeface="Inter"/>
              </a:rPr>
              <a:t>₹1L Cr+ Indian wedding &amp; events industry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3611880"/>
            <a:ext cx="7772400" cy="822960"/>
          </a:xfrm>
          <a:prstGeom prst="roundRect">
            <a:avLst>
              <a:gd name="adj" fmla="val 6000"/>
            </a:avLst>
          </a:prstGeom>
          <a:solidFill>
            <a:srgbClr val="32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370332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0653B"/>
                </a:solidFill>
                <a:latin typeface="Inter Tight"/>
              </a:rP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370332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7F3EE"/>
                </a:solidFill>
                <a:latin typeface="Inter"/>
              </a:rPr>
              <a:t>200K+ active professional photographers in India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572000"/>
            <a:ext cx="5486400" cy="822960"/>
          </a:xfrm>
          <a:prstGeom prst="roundRect">
            <a:avLst>
              <a:gd name="adj" fmla="val 6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46634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E1116"/>
                </a:solidFill>
                <a:latin typeface="Inter Tight"/>
              </a:rPr>
              <a:t>SOM (Year 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46634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E1116"/>
                </a:solidFill>
                <a:latin typeface="Inter"/>
              </a:rPr>
              <a:t>20K active photographers × ₹6K avg annual spend ≈ ₹120 Cr GMV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Expansion path: Tier-2/3 India → Pan-India → Southeast Asia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(Indonesia, Bangladesh, Sri Lanka share the same gap).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Live product. Real photographers. Real payouts.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7F3EE"/>
                </a:solidFill>
                <a:latin typeface="Inter Tight"/>
              </a:rPr>
              <a:t>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product in market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2560320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83464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7F3EE"/>
                </a:solidFill>
                <a:latin typeface="Inter Tigh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languages shipped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560320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83464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7F3EE"/>
                </a:solidFill>
                <a:latin typeface="Inter Tight"/>
              </a:rPr>
              <a:t>End-to-end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payments + payouts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560320"/>
            <a:ext cx="2697480" cy="164592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83464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7F3EE"/>
                </a:solidFill>
                <a:latin typeface="Inter Tight"/>
              </a:rPr>
              <a:t>Audit-grade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20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AA3B2"/>
                </a:solidFill>
                <a:latin typeface="Inter"/>
              </a:rPr>
              <a:t>backend &amp; 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ALREADY SHIPPED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834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2B886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Photographer dashboard, albums, gallery 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76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2B886"/>
                </a:solidFill>
                <a:latin typeface="Inter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760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Client gallery in English, Telugu, Hindi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686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2B886"/>
                </a:solidFill>
                <a:latin typeface="Inter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56869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Razorpay checkout · UPI + cards · instant payouts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61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2B886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861304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Admin panel: analytics, audit log, payout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53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2B886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15391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7F3EE"/>
                </a:solidFill>
                <a:latin typeface="Inter"/>
              </a:rPr>
              <a:t>Background upload engine with resumable transfers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12 months. 1,000 paying photographers.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2743200" cy="329184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2743200" cy="54864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0653B"/>
                </a:solidFill>
                <a:latin typeface="Inter Tight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7F3EE"/>
                </a:solidFill>
                <a:latin typeface="Inter Tight"/>
              </a:rPr>
              <a:t>Launch + GTM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2336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9319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Public launch, paid acquisition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52628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4348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First 200 paying photographers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502920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9377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Wedding-season ramp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2560320"/>
            <a:ext cx="2743200" cy="329184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2560320"/>
            <a:ext cx="2743200" cy="54864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0653B"/>
                </a:solidFill>
                <a:latin typeface="Inter Tight"/>
              </a:rPr>
              <a:t>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2461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7F3EE"/>
                </a:solidFill>
                <a:latin typeface="Inter Tight"/>
              </a:rPr>
              <a:t>Studio tier</a:t>
            </a:r>
          </a:p>
        </p:txBody>
      </p:sp>
      <p:sp>
        <p:nvSpPr>
          <p:cNvPr id="19" name="Oval 18"/>
          <p:cNvSpPr/>
          <p:nvPr/>
        </p:nvSpPr>
        <p:spPr>
          <a:xfrm>
            <a:off x="3703320" y="402336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39319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Multi-user team accounts</a:t>
            </a:r>
          </a:p>
        </p:txBody>
      </p:sp>
      <p:sp>
        <p:nvSpPr>
          <p:cNvPr id="21" name="Oval 20"/>
          <p:cNvSpPr/>
          <p:nvPr/>
        </p:nvSpPr>
        <p:spPr>
          <a:xfrm>
            <a:off x="3703320" y="452628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44348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Studio analytics &amp; roles</a:t>
            </a:r>
          </a:p>
        </p:txBody>
      </p:sp>
      <p:sp>
        <p:nvSpPr>
          <p:cNvPr id="23" name="Oval 22"/>
          <p:cNvSpPr/>
          <p:nvPr/>
        </p:nvSpPr>
        <p:spPr>
          <a:xfrm>
            <a:off x="3703320" y="502920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49377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Marathi + Tamil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560320"/>
            <a:ext cx="2743200" cy="329184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560320"/>
            <a:ext cx="2743200" cy="54864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0653B"/>
                </a:solidFill>
                <a:latin typeface="Inter Tight"/>
              </a:rPr>
              <a:t>Q3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2461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7F3EE"/>
                </a:solidFill>
                <a:latin typeface="Inter Tight"/>
              </a:rPr>
              <a:t>AI culling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402336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9319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AI-assisted photo culling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452628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44348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Smart album organization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502920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9377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Bengali language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60" y="2560320"/>
            <a:ext cx="2743200" cy="329184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52560" y="2560320"/>
            <a:ext cx="2743200" cy="54864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0653B"/>
                </a:solidFill>
                <a:latin typeface="Inter Tight"/>
              </a:rPr>
              <a:t>Q4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32461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7F3EE"/>
                </a:solidFill>
                <a:latin typeface="Inter Tight"/>
              </a:rPr>
              <a:t>Client app</a:t>
            </a:r>
          </a:p>
        </p:txBody>
      </p:sp>
      <p:sp>
        <p:nvSpPr>
          <p:cNvPr id="39" name="Oval 38"/>
          <p:cNvSpPr/>
          <p:nvPr/>
        </p:nvSpPr>
        <p:spPr>
          <a:xfrm>
            <a:off x="9372600" y="402336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55480" y="39319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Native client mobile app</a:t>
            </a:r>
          </a:p>
        </p:txBody>
      </p:sp>
      <p:sp>
        <p:nvSpPr>
          <p:cNvPr id="41" name="Oval 40"/>
          <p:cNvSpPr/>
          <p:nvPr/>
        </p:nvSpPr>
        <p:spPr>
          <a:xfrm>
            <a:off x="9372600" y="452628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44348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Push notifications</a:t>
            </a:r>
          </a:p>
        </p:txBody>
      </p:sp>
      <p:sp>
        <p:nvSpPr>
          <p:cNvPr id="43" name="Oval 42"/>
          <p:cNvSpPr/>
          <p:nvPr/>
        </p:nvSpPr>
        <p:spPr>
          <a:xfrm>
            <a:off x="9372600" y="5029200"/>
            <a:ext cx="91440" cy="9144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55480" y="493776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7F3EE"/>
                </a:solidFill>
                <a:latin typeface="Inter"/>
              </a:rPr>
              <a:t>1,000 paying customers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7F3EE"/>
                </a:solidFill>
                <a:latin typeface="Inter Tight"/>
              </a:rPr>
              <a:t>Builders who've shipped.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926080"/>
            <a:ext cx="1097280" cy="1097280"/>
          </a:xfrm>
          <a:prstGeom prst="ellipse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E1116"/>
                </a:solidFill>
                <a:latin typeface="Inter Tight"/>
              </a:rPr>
              <a:t>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063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F7F3EE"/>
                </a:solidFill>
                <a:latin typeface="Inter Tight"/>
              </a:rPr>
              <a:t>Founder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0653B"/>
                </a:solidFill>
                <a:latin typeface="Inter Tight"/>
              </a:rPr>
              <a:t>Founder &amp; CEO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480560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Solo founder, full-stack engineer.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Built and shipped FrameDrops end-to-end: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frontend, backend, infra, payments.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46888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161A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2926080"/>
            <a:ext cx="1097280" cy="1097280"/>
          </a:xfrm>
          <a:prstGeom prst="ellipse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E1116"/>
                </a:solidFill>
                <a:latin typeface="Inter Tight"/>
              </a:rPr>
              <a:t>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063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F7F3EE"/>
                </a:solidFill>
                <a:latin typeface="Inter Tight"/>
              </a:rPr>
              <a:t>Open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0653B"/>
                </a:solidFill>
                <a:latin typeface="Inter Tight"/>
              </a:rPr>
              <a:t>Co-founder /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60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Looking for a partner to lead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go-to-market and photographer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2"/>
                </a:solidFill>
                <a:latin typeface="Inter"/>
              </a:rPr>
              <a:t>community growth.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473"/>
                </a:solidFill>
                <a:latin typeface="Inter"/>
              </a:rPr>
              <a:t>Advisors and team to be announced post-seed.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FrameDrops  ·  Confidential  ·  framedrops.in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473"/>
                </a:solidFill>
                <a:latin typeface="Inter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E1116"/>
                </a:solidFill>
                <a:latin typeface="Inter Tight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7F3EE"/>
                </a:solidFill>
                <a:latin typeface="Inter Tight"/>
              </a:rPr>
              <a:t>Raising ₹X Cr seed.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0653B"/>
                </a:solidFill>
                <a:latin typeface="Inter Tight"/>
              </a:rPr>
              <a:t>USE OF FUNDS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257800" cy="365760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3520440"/>
            <a:ext cx="3154680" cy="365760"/>
          </a:xfrm>
          <a:prstGeom prst="rect">
            <a:avLst/>
          </a:prstGeom>
          <a:solidFill>
            <a:srgbClr val="E0A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35440" y="3520440"/>
            <a:ext cx="2103120" cy="365760"/>
          </a:xfrm>
          <a:prstGeom prst="rect">
            <a:avLst/>
          </a:prstGeom>
          <a:solidFill>
            <a:srgbClr val="6B4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160520"/>
            <a:ext cx="164592" cy="164592"/>
          </a:xfrm>
          <a:prstGeom prst="rect">
            <a:avLst/>
          </a:prstGeom>
          <a:solidFill>
            <a:srgbClr val="F06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50%  Product &amp; 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4160520"/>
            <a:ext cx="164592" cy="164592"/>
          </a:xfrm>
          <a:prstGeom prst="rect">
            <a:avLst/>
          </a:prstGeom>
          <a:solidFill>
            <a:srgbClr val="E0A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4114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30%  Growth &amp; GTM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4160520"/>
            <a:ext cx="164592" cy="164592"/>
          </a:xfrm>
          <a:prstGeom prst="rect">
            <a:avLst/>
          </a:prstGeom>
          <a:solidFill>
            <a:srgbClr val="6B4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4114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7F3EE"/>
                </a:solidFill>
                <a:latin typeface="Inter"/>
              </a:rPr>
              <a:t>20% 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9AA3B2"/>
                </a:solidFill>
                <a:latin typeface="Inter"/>
              </a:rPr>
              <a:t>Our vision: become the default photo-delivery platform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9AA3B2"/>
                </a:solidFill>
                <a:latin typeface="Inter"/>
              </a:rPr>
              <a:t>for every photographer in India — and the language-first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9AA3B2"/>
                </a:solidFill>
                <a:latin typeface="Inter"/>
              </a:rPr>
              <a:t>photo platform of the world.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355080"/>
            <a:ext cx="10515600" cy="6350"/>
          </a:xfrm>
          <a:prstGeom prst="rect">
            <a:avLst/>
          </a:prstGeom>
          <a:solidFill>
            <a:srgbClr val="2A2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492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473"/>
                </a:solidFill>
                <a:latin typeface="Inter"/>
              </a:rPr>
              <a:t>hello@framedrops.in   ·   framedrops.in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