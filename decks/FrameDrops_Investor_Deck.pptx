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1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065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77724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F0653B"/>
                </a:solidFill>
                <a:latin typeface="Inter Tight"/>
              </a:rPr>
              <a:t>FRAMEDROPS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103120"/>
            <a:ext cx="10515600" cy="228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200" b="1">
                <a:solidFill>
                  <a:srgbClr val="F7F3EE"/>
                </a:solidFill>
                <a:latin typeface="Inter Tight"/>
              </a:rPr>
              <a:t>Modern photo delivery</a:t>
            </a:r>
          </a:p>
          <a:p>
            <a:pPr algn="l">
              <a:lnSpc>
                <a:spcPct val="100000"/>
              </a:lnSpc>
            </a:pPr>
            <a:r>
              <a:rPr sz="7200" b="1">
                <a:solidFill>
                  <a:srgbClr val="F7F3EE"/>
                </a:solidFill>
                <a:latin typeface="Inter Tight"/>
              </a:rPr>
              <a:t>for photographers.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846320"/>
            <a:ext cx="10058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0">
                <a:solidFill>
                  <a:srgbClr val="9AA3B2"/>
                </a:solidFill>
                <a:latin typeface="Inter"/>
              </a:rPr>
              <a:t>Upload. Share. Select. Get paid.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5943600"/>
            <a:ext cx="10515600" cy="6350"/>
          </a:xfrm>
          <a:prstGeom prst="rect">
            <a:avLst/>
          </a:prstGeom>
          <a:solidFill>
            <a:srgbClr val="2A2F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608076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5A6473"/>
                </a:solidFill>
                <a:latin typeface="Inter"/>
              </a:rPr>
              <a:t>Seed Round  ·  2026  ·  hello@framedrops.in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1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777240"/>
            <a:ext cx="1463040" cy="292608"/>
          </a:xfrm>
          <a:prstGeom prst="roundRect">
            <a:avLst>
              <a:gd name="adj" fmla="val 50000"/>
            </a:avLst>
          </a:prstGeom>
          <a:solidFill>
            <a:srgbClr val="F065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100" b="1">
                <a:solidFill>
                  <a:srgbClr val="0E1116"/>
                </a:solidFill>
                <a:latin typeface="Inter Tight"/>
              </a:rP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109728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200" b="1">
                <a:solidFill>
                  <a:srgbClr val="F7F3EE"/>
                </a:solidFill>
                <a:latin typeface="Inter Tight"/>
              </a:rPr>
              <a:t>Photo delivery in India is stuck in 2010.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468880"/>
            <a:ext cx="548640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0" b="1">
                <a:solidFill>
                  <a:srgbClr val="F0653B"/>
                </a:solidFill>
                <a:latin typeface="Inter Tight"/>
              </a:rPr>
              <a:t>70%+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114800"/>
            <a:ext cx="5486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0">
                <a:solidFill>
                  <a:srgbClr val="9AA3B2"/>
                </a:solidFill>
                <a:latin typeface="Inter"/>
              </a:rPr>
              <a:t>of Indian event photographers still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434840"/>
            <a:ext cx="5486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0">
                <a:solidFill>
                  <a:srgbClr val="F7F3EE"/>
                </a:solidFill>
                <a:latin typeface="Inter"/>
              </a:rPr>
              <a:t>deliver via WhatsApp, Drive, or pen drives.</a:t>
            </a:r>
          </a:p>
        </p:txBody>
      </p:sp>
      <p:sp>
        <p:nvSpPr>
          <p:cNvPr id="8" name="Oval 7"/>
          <p:cNvSpPr/>
          <p:nvPr/>
        </p:nvSpPr>
        <p:spPr>
          <a:xfrm>
            <a:off x="6400800" y="2606040"/>
            <a:ext cx="164592" cy="164592"/>
          </a:xfrm>
          <a:prstGeom prst="ellipse">
            <a:avLst/>
          </a:prstGeom>
          <a:solidFill>
            <a:srgbClr val="F065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766560" y="2468880"/>
            <a:ext cx="48463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0">
                <a:solidFill>
                  <a:srgbClr val="F7F3EE"/>
                </a:solidFill>
                <a:latin typeface="Inter"/>
              </a:rPr>
              <a:t>Compressed images. Expired links. Repeated re-uploads.</a:t>
            </a:r>
          </a:p>
        </p:txBody>
      </p:sp>
      <p:sp>
        <p:nvSpPr>
          <p:cNvPr id="10" name="Oval 9"/>
          <p:cNvSpPr/>
          <p:nvPr/>
        </p:nvSpPr>
        <p:spPr>
          <a:xfrm>
            <a:off x="6400800" y="3383280"/>
            <a:ext cx="164592" cy="164592"/>
          </a:xfrm>
          <a:prstGeom prst="ellipse">
            <a:avLst/>
          </a:prstGeom>
          <a:solidFill>
            <a:srgbClr val="F065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66560" y="3246120"/>
            <a:ext cx="48463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0">
                <a:solidFill>
                  <a:srgbClr val="F7F3EE"/>
                </a:solidFill>
                <a:latin typeface="Inter"/>
              </a:rPr>
              <a:t>Clients can't pick favorites from 2,000 photos on a phone.</a:t>
            </a:r>
          </a:p>
        </p:txBody>
      </p:sp>
      <p:sp>
        <p:nvSpPr>
          <p:cNvPr id="12" name="Oval 11"/>
          <p:cNvSpPr/>
          <p:nvPr/>
        </p:nvSpPr>
        <p:spPr>
          <a:xfrm>
            <a:off x="6400800" y="4160520"/>
            <a:ext cx="164592" cy="164592"/>
          </a:xfrm>
          <a:prstGeom prst="ellipse">
            <a:avLst/>
          </a:prstGeom>
          <a:solidFill>
            <a:srgbClr val="F065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66560" y="4023360"/>
            <a:ext cx="48463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0">
                <a:solidFill>
                  <a:srgbClr val="F7F3EE"/>
                </a:solidFill>
                <a:latin typeface="Inter"/>
              </a:rPr>
              <a:t>Manual UPI follow-ups. Payments slip through the cracks.</a:t>
            </a:r>
          </a:p>
        </p:txBody>
      </p:sp>
      <p:sp>
        <p:nvSpPr>
          <p:cNvPr id="14" name="Oval 13"/>
          <p:cNvSpPr/>
          <p:nvPr/>
        </p:nvSpPr>
        <p:spPr>
          <a:xfrm>
            <a:off x="6400800" y="4937760"/>
            <a:ext cx="164592" cy="164592"/>
          </a:xfrm>
          <a:prstGeom prst="ellipse">
            <a:avLst/>
          </a:prstGeom>
          <a:solidFill>
            <a:srgbClr val="F065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766560" y="4800600"/>
            <a:ext cx="48463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0">
                <a:solidFill>
                  <a:srgbClr val="F7F3EE"/>
                </a:solidFill>
                <a:latin typeface="Inter"/>
              </a:rPr>
              <a:t>Foreign tools cost ₹3,000+/mo and only speak English.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5A6473"/>
                </a:solidFill>
                <a:latin typeface="Inter"/>
              </a:rPr>
              <a:t>FrameDrops  ·  Confidential  ·  framedrops.in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7040" y="644652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5A6473"/>
                </a:solidFill>
                <a:latin typeface="Inter"/>
              </a:rPr>
              <a:t>02 / 13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1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777240"/>
            <a:ext cx="1463040" cy="292608"/>
          </a:xfrm>
          <a:prstGeom prst="roundRect">
            <a:avLst>
              <a:gd name="adj" fmla="val 50000"/>
            </a:avLst>
          </a:prstGeom>
          <a:solidFill>
            <a:srgbClr val="F065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100" b="1">
                <a:solidFill>
                  <a:srgbClr val="0E1116"/>
                </a:solidFill>
                <a:latin typeface="Inter Tight"/>
              </a:rPr>
              <a:t>THE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109728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200" b="1">
                <a:solidFill>
                  <a:srgbClr val="F7F3EE"/>
                </a:solidFill>
                <a:latin typeface="Inter Tight"/>
              </a:rPr>
              <a:t>One link. From shoot to payout.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377440"/>
            <a:ext cx="1005840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200" b="0">
                <a:solidFill>
                  <a:srgbClr val="F7F3EE"/>
                </a:solidFill>
                <a:latin typeface="Inter"/>
              </a:rPr>
              <a:t>FrameDrops gives photographers a single private gallery link</a:t>
            </a:r>
          </a:p>
          <a:p>
            <a:pPr algn="l">
              <a:lnSpc>
                <a:spcPct val="150000"/>
              </a:lnSpc>
            </a:pPr>
            <a:r>
              <a:rPr sz="2200" b="0">
                <a:solidFill>
                  <a:srgbClr val="F7F3EE"/>
                </a:solidFill>
                <a:latin typeface="Inter"/>
              </a:rPr>
              <a:t>to send clients — and a built-in checkout to get paid the</a:t>
            </a:r>
          </a:p>
          <a:p>
            <a:pPr algn="l">
              <a:lnSpc>
                <a:spcPct val="150000"/>
              </a:lnSpc>
            </a:pPr>
            <a:r>
              <a:rPr sz="2200" b="0">
                <a:solidFill>
                  <a:srgbClr val="F7F3EE"/>
                </a:solidFill>
                <a:latin typeface="Inter"/>
              </a:rPr>
              <a:t>moment a client picks their favorites.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5120640"/>
            <a:ext cx="2697480" cy="914400"/>
          </a:xfrm>
          <a:prstGeom prst="roundRect">
            <a:avLst>
              <a:gd name="adj" fmla="val 6000"/>
            </a:avLst>
          </a:prstGeom>
          <a:solidFill>
            <a:srgbClr val="161A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5285232"/>
            <a:ext cx="914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F0653B"/>
                </a:solidFill>
                <a:latin typeface="Inter Tight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5532120"/>
            <a:ext cx="22860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>
                <a:solidFill>
                  <a:srgbClr val="F7F3EE"/>
                </a:solidFill>
                <a:latin typeface="Inter Tight"/>
              </a:rPr>
              <a:t>UPLOAD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37560" y="5120640"/>
            <a:ext cx="2697480" cy="914400"/>
          </a:xfrm>
          <a:prstGeom prst="roundRect">
            <a:avLst>
              <a:gd name="adj" fmla="val 6000"/>
            </a:avLst>
          </a:prstGeom>
          <a:solidFill>
            <a:srgbClr val="161A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0" y="5285232"/>
            <a:ext cx="914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F0653B"/>
                </a:solidFill>
                <a:latin typeface="Inter Tight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0" y="5532120"/>
            <a:ext cx="22860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>
                <a:solidFill>
                  <a:srgbClr val="F7F3EE"/>
                </a:solidFill>
                <a:latin typeface="Inter Tight"/>
              </a:rPr>
              <a:t>SHARE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0" y="5120640"/>
            <a:ext cx="2697480" cy="914400"/>
          </a:xfrm>
          <a:prstGeom prst="roundRect">
            <a:avLst>
              <a:gd name="adj" fmla="val 6000"/>
            </a:avLst>
          </a:prstGeom>
          <a:solidFill>
            <a:srgbClr val="161A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5285232"/>
            <a:ext cx="914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F0653B"/>
                </a:solidFill>
                <a:latin typeface="Inter Tight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46520" y="5532120"/>
            <a:ext cx="22860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>
                <a:solidFill>
                  <a:srgbClr val="F7F3EE"/>
                </a:solidFill>
                <a:latin typeface="Inter Tight"/>
              </a:rPr>
              <a:t>SELECT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915400" y="5120640"/>
            <a:ext cx="2697480" cy="914400"/>
          </a:xfrm>
          <a:prstGeom prst="roundRect">
            <a:avLst>
              <a:gd name="adj" fmla="val 6000"/>
            </a:avLst>
          </a:prstGeom>
          <a:solidFill>
            <a:srgbClr val="161A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235440" y="5285232"/>
            <a:ext cx="914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F0653B"/>
                </a:solidFill>
                <a:latin typeface="Inter Tight"/>
              </a:rPr>
              <a:t>04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35440" y="5532120"/>
            <a:ext cx="22860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>
                <a:solidFill>
                  <a:srgbClr val="F7F3EE"/>
                </a:solidFill>
                <a:latin typeface="Inter Tight"/>
              </a:rPr>
              <a:t>GET PAID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5A6473"/>
                </a:solidFill>
                <a:latin typeface="Inter"/>
              </a:rPr>
              <a:t>FrameDrops  ·  Confidential  ·  framedrops.in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7040" y="644652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5A6473"/>
                </a:solidFill>
                <a:latin typeface="Inter"/>
              </a:rPr>
              <a:t>03 / 13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1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777240"/>
            <a:ext cx="1463040" cy="292608"/>
          </a:xfrm>
          <a:prstGeom prst="roundRect">
            <a:avLst>
              <a:gd name="adj" fmla="val 50000"/>
            </a:avLst>
          </a:prstGeom>
          <a:solidFill>
            <a:srgbClr val="F065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100" b="1">
                <a:solidFill>
                  <a:srgbClr val="0E1116"/>
                </a:solidFill>
                <a:latin typeface="Inter Tight"/>
              </a:rPr>
              <a:t>WHY NOW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109728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200" b="1">
                <a:solidFill>
                  <a:srgbClr val="F7F3EE"/>
                </a:solidFill>
                <a:latin typeface="Inter Tight"/>
              </a:rPr>
              <a:t>India is in a wedding-photography boom.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651760"/>
            <a:ext cx="3657600" cy="3108960"/>
          </a:xfrm>
          <a:prstGeom prst="roundRect">
            <a:avLst>
              <a:gd name="adj" fmla="val 6000"/>
            </a:avLst>
          </a:prstGeom>
          <a:solidFill>
            <a:srgbClr val="161A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2651760"/>
            <a:ext cx="3657600" cy="54864"/>
          </a:xfrm>
          <a:prstGeom prst="rect">
            <a:avLst/>
          </a:prstGeom>
          <a:solidFill>
            <a:srgbClr val="F065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3200400"/>
            <a:ext cx="292608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600" b="1">
                <a:solidFill>
                  <a:srgbClr val="F7F3EE"/>
                </a:solidFill>
                <a:latin typeface="Inter Tight"/>
              </a:rPr>
              <a:t>₹1L Cr+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663440"/>
            <a:ext cx="29260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>
                <a:solidFill>
                  <a:srgbClr val="9AA3B2"/>
                </a:solidFill>
                <a:latin typeface="Inter"/>
              </a:rPr>
              <a:t>Indian wedding industry,</a:t>
            </a:r>
          </a:p>
          <a:p>
            <a:pPr algn="l">
              <a:lnSpc>
                <a:spcPct val="140000"/>
              </a:lnSpc>
            </a:pPr>
            <a:r>
              <a:rPr sz="1400" b="0">
                <a:solidFill>
                  <a:srgbClr val="9AA3B2"/>
                </a:solidFill>
                <a:latin typeface="Inter"/>
              </a:rPr>
              <a:t>growing 10% YoY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2651760"/>
            <a:ext cx="3657600" cy="3108960"/>
          </a:xfrm>
          <a:prstGeom prst="roundRect">
            <a:avLst>
              <a:gd name="adj" fmla="val 6000"/>
            </a:avLst>
          </a:prstGeom>
          <a:solidFill>
            <a:srgbClr val="161A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43400" y="2651760"/>
            <a:ext cx="3657600" cy="54864"/>
          </a:xfrm>
          <a:prstGeom prst="rect">
            <a:avLst/>
          </a:prstGeom>
          <a:solidFill>
            <a:srgbClr val="F065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09160" y="3200400"/>
            <a:ext cx="292608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600" b="1">
                <a:solidFill>
                  <a:srgbClr val="F7F3EE"/>
                </a:solidFill>
                <a:latin typeface="Inter Tight"/>
              </a:rPr>
              <a:t>5M+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09160" y="4663440"/>
            <a:ext cx="29260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>
                <a:solidFill>
                  <a:srgbClr val="9AA3B2"/>
                </a:solidFill>
                <a:latin typeface="Inter"/>
              </a:rPr>
              <a:t>weddings, engagements,</a:t>
            </a:r>
          </a:p>
          <a:p>
            <a:pPr algn="l">
              <a:lnSpc>
                <a:spcPct val="140000"/>
              </a:lnSpc>
            </a:pPr>
            <a:r>
              <a:rPr sz="1400" b="0">
                <a:solidFill>
                  <a:srgbClr val="9AA3B2"/>
                </a:solidFill>
                <a:latin typeface="Inter"/>
              </a:rPr>
              <a:t>and pre-wedding shoots / year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38160" y="2651760"/>
            <a:ext cx="3657600" cy="3108960"/>
          </a:xfrm>
          <a:prstGeom prst="roundRect">
            <a:avLst>
              <a:gd name="adj" fmla="val 6000"/>
            </a:avLst>
          </a:prstGeom>
          <a:solidFill>
            <a:srgbClr val="161A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138160" y="2651760"/>
            <a:ext cx="3657600" cy="54864"/>
          </a:xfrm>
          <a:prstGeom prst="rect">
            <a:avLst/>
          </a:prstGeom>
          <a:solidFill>
            <a:srgbClr val="F065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03920" y="3200400"/>
            <a:ext cx="292608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600" b="1">
                <a:solidFill>
                  <a:srgbClr val="F7F3EE"/>
                </a:solidFill>
                <a:latin typeface="Inter Tight"/>
              </a:rPr>
              <a:t>200K+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20" y="4663440"/>
            <a:ext cx="29260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>
                <a:solidFill>
                  <a:srgbClr val="9AA3B2"/>
                </a:solidFill>
                <a:latin typeface="Inter"/>
              </a:rPr>
              <a:t>active professional</a:t>
            </a:r>
          </a:p>
          <a:p>
            <a:pPr algn="l">
              <a:lnSpc>
                <a:spcPct val="140000"/>
              </a:lnSpc>
            </a:pPr>
            <a:r>
              <a:rPr sz="1400" b="0">
                <a:solidFill>
                  <a:srgbClr val="9AA3B2"/>
                </a:solidFill>
                <a:latin typeface="Inter"/>
              </a:rPr>
              <a:t>photographers in India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03504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5A6473"/>
                </a:solidFill>
                <a:latin typeface="Inter"/>
              </a:rPr>
              <a:t>Source: WPI / Indian wedding industry estimates. Internal market research.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5A6473"/>
                </a:solidFill>
                <a:latin typeface="Inter"/>
              </a:rPr>
              <a:t>FrameDrops  ·  Confidential  ·  framedrops.in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7040" y="644652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5A6473"/>
                </a:solidFill>
                <a:latin typeface="Inter"/>
              </a:rPr>
              <a:t>04 / 13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1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777240"/>
            <a:ext cx="1463040" cy="292608"/>
          </a:xfrm>
          <a:prstGeom prst="roundRect">
            <a:avLst>
              <a:gd name="adj" fmla="val 50000"/>
            </a:avLst>
          </a:prstGeom>
          <a:solidFill>
            <a:srgbClr val="F065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100" b="1">
                <a:solidFill>
                  <a:srgbClr val="0E1116"/>
                </a:solidFill>
                <a:latin typeface="Inter Tight"/>
              </a:rPr>
              <a:t>PRODUCT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109728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200" b="1">
                <a:solidFill>
                  <a:srgbClr val="F7F3EE"/>
                </a:solidFill>
                <a:latin typeface="Inter Tight"/>
              </a:rPr>
              <a:t>Built around how photographers actually work.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468880"/>
            <a:ext cx="3657600" cy="1554480"/>
          </a:xfrm>
          <a:prstGeom prst="roundRect">
            <a:avLst>
              <a:gd name="adj" fmla="val 6000"/>
            </a:avLst>
          </a:prstGeom>
          <a:solidFill>
            <a:srgbClr val="161A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2468880"/>
            <a:ext cx="73152" cy="1554480"/>
          </a:xfrm>
          <a:prstGeom prst="rect">
            <a:avLst/>
          </a:prstGeom>
          <a:solidFill>
            <a:srgbClr val="F065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743200"/>
            <a:ext cx="3017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>
                <a:solidFill>
                  <a:srgbClr val="F7F3EE"/>
                </a:solidFill>
                <a:latin typeface="Inter Tight"/>
              </a:rPr>
              <a:t>Background uploads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3246120"/>
            <a:ext cx="30175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>
                <a:solidFill>
                  <a:srgbClr val="9AA3B2"/>
                </a:solidFill>
                <a:latin typeface="Inter"/>
              </a:rPr>
              <a:t>Resume on any device. Close the laptop, keep going.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2468880"/>
            <a:ext cx="3657600" cy="1554480"/>
          </a:xfrm>
          <a:prstGeom prst="roundRect">
            <a:avLst>
              <a:gd name="adj" fmla="val 6000"/>
            </a:avLst>
          </a:prstGeom>
          <a:solidFill>
            <a:srgbClr val="161A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43400" y="2468880"/>
            <a:ext cx="73152" cy="1554480"/>
          </a:xfrm>
          <a:prstGeom prst="rect">
            <a:avLst/>
          </a:prstGeom>
          <a:solidFill>
            <a:srgbClr val="F065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63440" y="2743200"/>
            <a:ext cx="3017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>
                <a:solidFill>
                  <a:srgbClr val="F7F3EE"/>
                </a:solidFill>
                <a:latin typeface="Inter Tight"/>
              </a:rPr>
              <a:t>Mobile-first galleries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0" y="3246120"/>
            <a:ext cx="30175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>
                <a:solidFill>
                  <a:srgbClr val="9AA3B2"/>
                </a:solidFill>
                <a:latin typeface="Inter"/>
              </a:rPr>
              <a:t>70% of clients open on a phone. Designed for that.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38160" y="2468880"/>
            <a:ext cx="3657600" cy="1554480"/>
          </a:xfrm>
          <a:prstGeom prst="roundRect">
            <a:avLst>
              <a:gd name="adj" fmla="val 6000"/>
            </a:avLst>
          </a:prstGeom>
          <a:solidFill>
            <a:srgbClr val="161A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138160" y="2468880"/>
            <a:ext cx="73152" cy="1554480"/>
          </a:xfrm>
          <a:prstGeom prst="rect">
            <a:avLst/>
          </a:prstGeom>
          <a:solidFill>
            <a:srgbClr val="F065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58200" y="2743200"/>
            <a:ext cx="3017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>
                <a:solidFill>
                  <a:srgbClr val="F7F3EE"/>
                </a:solidFill>
                <a:latin typeface="Inter Tight"/>
              </a:rPr>
              <a:t>One-tap selection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58200" y="3246120"/>
            <a:ext cx="30175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>
                <a:solidFill>
                  <a:srgbClr val="9AA3B2"/>
                </a:solidFill>
                <a:latin typeface="Inter"/>
              </a:rPr>
              <a:t>Heart your favorites. Real-time counts on the photographer side.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4206240"/>
            <a:ext cx="3657600" cy="1554480"/>
          </a:xfrm>
          <a:prstGeom prst="roundRect">
            <a:avLst>
              <a:gd name="adj" fmla="val 6000"/>
            </a:avLst>
          </a:prstGeom>
          <a:solidFill>
            <a:srgbClr val="161A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48640" y="4206240"/>
            <a:ext cx="73152" cy="1554480"/>
          </a:xfrm>
          <a:prstGeom prst="rect">
            <a:avLst/>
          </a:prstGeom>
          <a:solidFill>
            <a:srgbClr val="F065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8680" y="4480560"/>
            <a:ext cx="3017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>
                <a:solidFill>
                  <a:srgbClr val="F7F3EE"/>
                </a:solidFill>
                <a:latin typeface="Inter Tight"/>
              </a:rPr>
              <a:t>Built-in wallet &amp; payouts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4983480"/>
            <a:ext cx="30175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>
                <a:solidFill>
                  <a:srgbClr val="9AA3B2"/>
                </a:solidFill>
                <a:latin typeface="Inter"/>
              </a:rPr>
              <a:t>Earnings flow into a wallet. Photographers withdraw to bank on demand.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43400" y="4206240"/>
            <a:ext cx="3657600" cy="1554480"/>
          </a:xfrm>
          <a:prstGeom prst="roundRect">
            <a:avLst>
              <a:gd name="adj" fmla="val 6000"/>
            </a:avLst>
          </a:prstGeom>
          <a:solidFill>
            <a:srgbClr val="161A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343400" y="4206240"/>
            <a:ext cx="73152" cy="1554480"/>
          </a:xfrm>
          <a:prstGeom prst="rect">
            <a:avLst/>
          </a:prstGeom>
          <a:solidFill>
            <a:srgbClr val="F065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663440" y="4480560"/>
            <a:ext cx="3017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>
                <a:solidFill>
                  <a:srgbClr val="F7F3EE"/>
                </a:solidFill>
                <a:latin typeface="Inter Tight"/>
              </a:rPr>
              <a:t>Multi-language UI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63440" y="4983480"/>
            <a:ext cx="30175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>
                <a:solidFill>
                  <a:srgbClr val="9AA3B2"/>
                </a:solidFill>
                <a:latin typeface="Inter"/>
              </a:rPr>
              <a:t>English, Telugu, Hindi. Marathi &amp; Tamil next.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138160" y="4206240"/>
            <a:ext cx="3657600" cy="1554480"/>
          </a:xfrm>
          <a:prstGeom prst="roundRect">
            <a:avLst>
              <a:gd name="adj" fmla="val 6000"/>
            </a:avLst>
          </a:prstGeom>
          <a:solidFill>
            <a:srgbClr val="161A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138160" y="4206240"/>
            <a:ext cx="73152" cy="1554480"/>
          </a:xfrm>
          <a:prstGeom prst="rect">
            <a:avLst/>
          </a:prstGeom>
          <a:solidFill>
            <a:srgbClr val="F065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458200" y="4480560"/>
            <a:ext cx="3017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>
                <a:solidFill>
                  <a:srgbClr val="F7F3EE"/>
                </a:solidFill>
                <a:latin typeface="Inter Tight"/>
              </a:rPr>
              <a:t>Branded experience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58200" y="4983480"/>
            <a:ext cx="30175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>
                <a:solidFill>
                  <a:srgbClr val="9AA3B2"/>
                </a:solidFill>
                <a:latin typeface="Inter"/>
              </a:rPr>
              <a:t>Your studio name, your colors. Optional custom domain.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5A6473"/>
                </a:solidFill>
                <a:latin typeface="Inter"/>
              </a:rPr>
              <a:t>FrameDrops  ·  Confidential  ·  framedrops.in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607040" y="644652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5A6473"/>
                </a:solidFill>
                <a:latin typeface="Inter"/>
              </a:rPr>
              <a:t>05 / 13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1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777240"/>
            <a:ext cx="1463040" cy="292608"/>
          </a:xfrm>
          <a:prstGeom prst="roundRect">
            <a:avLst>
              <a:gd name="adj" fmla="val 50000"/>
            </a:avLst>
          </a:prstGeom>
          <a:solidFill>
            <a:srgbClr val="F065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100" b="1">
                <a:solidFill>
                  <a:srgbClr val="0E1116"/>
                </a:solidFill>
                <a:latin typeface="Inter Tight"/>
              </a:rPr>
              <a:t>WHY WE WIN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109728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200" b="1">
                <a:solidFill>
                  <a:srgbClr val="F7F3EE"/>
                </a:solidFill>
                <a:latin typeface="Inter Tight"/>
              </a:rPr>
              <a:t>Premium experience. Local prices. Local languages.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3108960"/>
            <a:ext cx="3291840" cy="6350"/>
          </a:xfrm>
          <a:prstGeom prst="rect">
            <a:avLst/>
          </a:prstGeom>
          <a:solidFill>
            <a:srgbClr val="2A2F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840480" y="2560320"/>
            <a:ext cx="2651760" cy="548640"/>
          </a:xfrm>
          <a:prstGeom prst="rect">
            <a:avLst/>
          </a:prstGeom>
          <a:solidFill>
            <a:srgbClr val="F065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840480" y="3108960"/>
            <a:ext cx="2651760" cy="6350"/>
          </a:xfrm>
          <a:prstGeom prst="rect">
            <a:avLst/>
          </a:prstGeom>
          <a:solidFill>
            <a:srgbClr val="2A2F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023360" y="2670048"/>
            <a:ext cx="23774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0E1116"/>
                </a:solidFill>
                <a:latin typeface="Inter Tight"/>
              </a:rPr>
              <a:t>FrameDrops</a:t>
            </a:r>
          </a:p>
        </p:txBody>
      </p:sp>
      <p:sp>
        <p:nvSpPr>
          <p:cNvPr id="9" name="Rectangle 8"/>
          <p:cNvSpPr/>
          <p:nvPr/>
        </p:nvSpPr>
        <p:spPr>
          <a:xfrm>
            <a:off x="6492240" y="3108960"/>
            <a:ext cx="2651760" cy="6350"/>
          </a:xfrm>
          <a:prstGeom prst="rect">
            <a:avLst/>
          </a:prstGeom>
          <a:solidFill>
            <a:srgbClr val="2A2F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75120" y="2670048"/>
            <a:ext cx="23774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F7F3EE"/>
                </a:solidFill>
                <a:latin typeface="Inter Tight"/>
              </a:rPr>
              <a:t>Pixieset / ShootProof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144000" y="3108960"/>
            <a:ext cx="2651760" cy="6350"/>
          </a:xfrm>
          <a:prstGeom prst="rect">
            <a:avLst/>
          </a:prstGeom>
          <a:solidFill>
            <a:srgbClr val="2A2F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26880" y="2670048"/>
            <a:ext cx="23774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F7F3EE"/>
                </a:solidFill>
                <a:latin typeface="Inter Tight"/>
              </a:rPr>
              <a:t>WhatsApp / Drive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3657600"/>
            <a:ext cx="3291840" cy="6350"/>
          </a:xfrm>
          <a:prstGeom prst="rect">
            <a:avLst/>
          </a:prstGeom>
          <a:solidFill>
            <a:srgbClr val="2A2F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3218688"/>
            <a:ext cx="301752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9AA3B2"/>
                </a:solidFill>
                <a:latin typeface="Inter"/>
              </a:rPr>
              <a:t>Pricing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840480" y="3108960"/>
            <a:ext cx="2651760" cy="548640"/>
          </a:xfrm>
          <a:prstGeom prst="rect">
            <a:avLst/>
          </a:prstGeom>
          <a:solidFill>
            <a:srgbClr val="1F14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840480" y="3657600"/>
            <a:ext cx="2651760" cy="6350"/>
          </a:xfrm>
          <a:prstGeom prst="rect">
            <a:avLst/>
          </a:prstGeom>
          <a:solidFill>
            <a:srgbClr val="2A2F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023360" y="3218688"/>
            <a:ext cx="23774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F7F3EE"/>
                </a:solidFill>
                <a:latin typeface="Inter"/>
              </a:rPr>
              <a:t>Pay per album, ₹149–₹299 (launch)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92240" y="3657600"/>
            <a:ext cx="2651760" cy="6350"/>
          </a:xfrm>
          <a:prstGeom prst="rect">
            <a:avLst/>
          </a:prstGeom>
          <a:solidFill>
            <a:srgbClr val="2A2F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75120" y="3218688"/>
            <a:ext cx="23774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9AA3B2"/>
                </a:solidFill>
                <a:latin typeface="Inter"/>
              </a:rPr>
              <a:t>₹3,000+ / month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144000" y="3657600"/>
            <a:ext cx="2651760" cy="6350"/>
          </a:xfrm>
          <a:prstGeom prst="rect">
            <a:avLst/>
          </a:prstGeom>
          <a:solidFill>
            <a:srgbClr val="2A2F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26880" y="3218688"/>
            <a:ext cx="23774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9AA3B2"/>
                </a:solidFill>
                <a:latin typeface="Inter"/>
              </a:rPr>
              <a:t>Free, but unusable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4206240"/>
            <a:ext cx="3291840" cy="6350"/>
          </a:xfrm>
          <a:prstGeom prst="rect">
            <a:avLst/>
          </a:prstGeom>
          <a:solidFill>
            <a:srgbClr val="2A2F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" y="3767328"/>
            <a:ext cx="301752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9AA3B2"/>
                </a:solidFill>
                <a:latin typeface="Inter"/>
              </a:rPr>
              <a:t>Languages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840480" y="3657600"/>
            <a:ext cx="2651760" cy="548640"/>
          </a:xfrm>
          <a:prstGeom prst="rect">
            <a:avLst/>
          </a:prstGeom>
          <a:solidFill>
            <a:srgbClr val="1F14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840480" y="4206240"/>
            <a:ext cx="2651760" cy="6350"/>
          </a:xfrm>
          <a:prstGeom prst="rect">
            <a:avLst/>
          </a:prstGeom>
          <a:solidFill>
            <a:srgbClr val="2A2F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023360" y="3767328"/>
            <a:ext cx="23774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F7F3EE"/>
                </a:solidFill>
                <a:latin typeface="Inter"/>
              </a:rPr>
              <a:t>EN · తె · हि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92240" y="4206240"/>
            <a:ext cx="2651760" cy="6350"/>
          </a:xfrm>
          <a:prstGeom prst="rect">
            <a:avLst/>
          </a:prstGeom>
          <a:solidFill>
            <a:srgbClr val="2A2F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75120" y="3767328"/>
            <a:ext cx="23774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9AA3B2"/>
                </a:solidFill>
                <a:latin typeface="Inter"/>
              </a:rPr>
              <a:t>English only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144000" y="4206240"/>
            <a:ext cx="2651760" cy="6350"/>
          </a:xfrm>
          <a:prstGeom prst="rect">
            <a:avLst/>
          </a:prstGeom>
          <a:solidFill>
            <a:srgbClr val="2A2F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326880" y="3767328"/>
            <a:ext cx="23774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9AA3B2"/>
                </a:solidFill>
                <a:latin typeface="Inter"/>
              </a:rPr>
              <a:t>—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48640" y="4754880"/>
            <a:ext cx="3291840" cy="6350"/>
          </a:xfrm>
          <a:prstGeom prst="rect">
            <a:avLst/>
          </a:prstGeom>
          <a:solidFill>
            <a:srgbClr val="2A2F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31520" y="4315968"/>
            <a:ext cx="301752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9AA3B2"/>
                </a:solidFill>
                <a:latin typeface="Inter"/>
              </a:rPr>
              <a:t>Built-in payments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840480" y="4206240"/>
            <a:ext cx="2651760" cy="548640"/>
          </a:xfrm>
          <a:prstGeom prst="rect">
            <a:avLst/>
          </a:prstGeom>
          <a:solidFill>
            <a:srgbClr val="1F14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3840480" y="4754880"/>
            <a:ext cx="2651760" cy="6350"/>
          </a:xfrm>
          <a:prstGeom prst="rect">
            <a:avLst/>
          </a:prstGeom>
          <a:solidFill>
            <a:srgbClr val="2A2F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023360" y="4315968"/>
            <a:ext cx="23774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F7F3EE"/>
                </a:solidFill>
                <a:latin typeface="Inter"/>
              </a:rPr>
              <a:t>UPI + cards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492240" y="4754880"/>
            <a:ext cx="2651760" cy="6350"/>
          </a:xfrm>
          <a:prstGeom prst="rect">
            <a:avLst/>
          </a:prstGeom>
          <a:solidFill>
            <a:srgbClr val="2A2F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675120" y="4315968"/>
            <a:ext cx="23774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9AA3B2"/>
                </a:solidFill>
                <a:latin typeface="Inter"/>
              </a:rPr>
              <a:t>Limited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144000" y="4754880"/>
            <a:ext cx="2651760" cy="6350"/>
          </a:xfrm>
          <a:prstGeom prst="rect">
            <a:avLst/>
          </a:prstGeom>
          <a:solidFill>
            <a:srgbClr val="2A2F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326880" y="4315968"/>
            <a:ext cx="23774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9AA3B2"/>
                </a:solidFill>
                <a:latin typeface="Inter"/>
              </a:rPr>
              <a:t>No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48640" y="5303520"/>
            <a:ext cx="3291840" cy="6350"/>
          </a:xfrm>
          <a:prstGeom prst="rect">
            <a:avLst/>
          </a:prstGeom>
          <a:solidFill>
            <a:srgbClr val="2A2F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31520" y="4864608"/>
            <a:ext cx="301752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9AA3B2"/>
                </a:solidFill>
                <a:latin typeface="Inter"/>
              </a:rPr>
              <a:t>Photo selection UX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840480" y="4754880"/>
            <a:ext cx="2651760" cy="548640"/>
          </a:xfrm>
          <a:prstGeom prst="rect">
            <a:avLst/>
          </a:prstGeom>
          <a:solidFill>
            <a:srgbClr val="1F14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3840480" y="5303520"/>
            <a:ext cx="2651760" cy="6350"/>
          </a:xfrm>
          <a:prstGeom prst="rect">
            <a:avLst/>
          </a:prstGeom>
          <a:solidFill>
            <a:srgbClr val="2A2F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023360" y="4864608"/>
            <a:ext cx="23774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F7F3EE"/>
                </a:solidFill>
                <a:latin typeface="Inter"/>
              </a:rPr>
              <a:t>One-tap, mobile-first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492240" y="5303520"/>
            <a:ext cx="2651760" cy="6350"/>
          </a:xfrm>
          <a:prstGeom prst="rect">
            <a:avLst/>
          </a:prstGeom>
          <a:solidFill>
            <a:srgbClr val="2A2F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675120" y="4864608"/>
            <a:ext cx="23774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9AA3B2"/>
                </a:solidFill>
                <a:latin typeface="Inter"/>
              </a:rPr>
              <a:t>Yes (desktop-first)</a:t>
            </a:r>
          </a:p>
        </p:txBody>
      </p:sp>
      <p:sp>
        <p:nvSpPr>
          <p:cNvPr id="47" name="Rectangle 46"/>
          <p:cNvSpPr/>
          <p:nvPr/>
        </p:nvSpPr>
        <p:spPr>
          <a:xfrm>
            <a:off x="9144000" y="5303520"/>
            <a:ext cx="2651760" cy="6350"/>
          </a:xfrm>
          <a:prstGeom prst="rect">
            <a:avLst/>
          </a:prstGeom>
          <a:solidFill>
            <a:srgbClr val="2A2F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326880" y="4864608"/>
            <a:ext cx="23774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9AA3B2"/>
                </a:solidFill>
                <a:latin typeface="Inter"/>
              </a:rPr>
              <a:t>Manual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48640" y="5852160"/>
            <a:ext cx="3291840" cy="6350"/>
          </a:xfrm>
          <a:prstGeom prst="rect">
            <a:avLst/>
          </a:prstGeom>
          <a:solidFill>
            <a:srgbClr val="2A2F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31520" y="5413248"/>
            <a:ext cx="301752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9AA3B2"/>
                </a:solidFill>
                <a:latin typeface="Inter"/>
              </a:rPr>
              <a:t>Built for India</a:t>
            </a:r>
          </a:p>
        </p:txBody>
      </p:sp>
      <p:sp>
        <p:nvSpPr>
          <p:cNvPr id="51" name="Rectangle 50"/>
          <p:cNvSpPr/>
          <p:nvPr/>
        </p:nvSpPr>
        <p:spPr>
          <a:xfrm>
            <a:off x="3840480" y="5303520"/>
            <a:ext cx="2651760" cy="548640"/>
          </a:xfrm>
          <a:prstGeom prst="rect">
            <a:avLst/>
          </a:prstGeom>
          <a:solidFill>
            <a:srgbClr val="1F14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3840480" y="5852160"/>
            <a:ext cx="2651760" cy="6350"/>
          </a:xfrm>
          <a:prstGeom prst="rect">
            <a:avLst/>
          </a:prstGeom>
          <a:solidFill>
            <a:srgbClr val="2A2F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023360" y="5413248"/>
            <a:ext cx="23774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F7F3EE"/>
                </a:solidFill>
                <a:latin typeface="Inter"/>
              </a:rPr>
              <a:t>Yes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492240" y="5852160"/>
            <a:ext cx="2651760" cy="6350"/>
          </a:xfrm>
          <a:prstGeom prst="rect">
            <a:avLst/>
          </a:prstGeom>
          <a:solidFill>
            <a:srgbClr val="2A2F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675120" y="5413248"/>
            <a:ext cx="23774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9AA3B2"/>
                </a:solidFill>
                <a:latin typeface="Inter"/>
              </a:rPr>
              <a:t>No</a:t>
            </a:r>
          </a:p>
        </p:txBody>
      </p:sp>
      <p:sp>
        <p:nvSpPr>
          <p:cNvPr id="56" name="Rectangle 55"/>
          <p:cNvSpPr/>
          <p:nvPr/>
        </p:nvSpPr>
        <p:spPr>
          <a:xfrm>
            <a:off x="9144000" y="5852160"/>
            <a:ext cx="2651760" cy="6350"/>
          </a:xfrm>
          <a:prstGeom prst="rect">
            <a:avLst/>
          </a:prstGeom>
          <a:solidFill>
            <a:srgbClr val="2A2F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9326880" y="5413248"/>
            <a:ext cx="23774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9AA3B2"/>
                </a:solidFill>
                <a:latin typeface="Inter"/>
              </a:rPr>
              <a:t>No</a:t>
            </a:r>
          </a:p>
        </p:txBody>
      </p:sp>
      <p:sp>
        <p:nvSpPr>
          <p:cNvPr id="58" name="Rectangle 57"/>
          <p:cNvSpPr/>
          <p:nvPr/>
        </p:nvSpPr>
        <p:spPr>
          <a:xfrm>
            <a:off x="548640" y="6400800"/>
            <a:ext cx="3291840" cy="6350"/>
          </a:xfrm>
          <a:prstGeom prst="rect">
            <a:avLst/>
          </a:prstGeom>
          <a:solidFill>
            <a:srgbClr val="2A2F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731520" y="5961888"/>
            <a:ext cx="301752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9AA3B2"/>
                </a:solidFill>
                <a:latin typeface="Inter"/>
              </a:rPr>
              <a:t>Mobile experience</a:t>
            </a:r>
          </a:p>
        </p:txBody>
      </p:sp>
      <p:sp>
        <p:nvSpPr>
          <p:cNvPr id="60" name="Rectangle 59"/>
          <p:cNvSpPr/>
          <p:nvPr/>
        </p:nvSpPr>
        <p:spPr>
          <a:xfrm>
            <a:off x="3840480" y="5852160"/>
            <a:ext cx="2651760" cy="548640"/>
          </a:xfrm>
          <a:prstGeom prst="rect">
            <a:avLst/>
          </a:prstGeom>
          <a:solidFill>
            <a:srgbClr val="1F14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3840480" y="6400800"/>
            <a:ext cx="2651760" cy="6350"/>
          </a:xfrm>
          <a:prstGeom prst="rect">
            <a:avLst/>
          </a:prstGeom>
          <a:solidFill>
            <a:srgbClr val="2A2F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4023360" y="5961888"/>
            <a:ext cx="23774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F7F3EE"/>
                </a:solidFill>
                <a:latin typeface="Inter"/>
              </a:rPr>
              <a:t>Native-feel, PWA</a:t>
            </a:r>
          </a:p>
        </p:txBody>
      </p:sp>
      <p:sp>
        <p:nvSpPr>
          <p:cNvPr id="63" name="Rectangle 62"/>
          <p:cNvSpPr/>
          <p:nvPr/>
        </p:nvSpPr>
        <p:spPr>
          <a:xfrm>
            <a:off x="6492240" y="6400800"/>
            <a:ext cx="2651760" cy="6350"/>
          </a:xfrm>
          <a:prstGeom prst="rect">
            <a:avLst/>
          </a:prstGeom>
          <a:solidFill>
            <a:srgbClr val="2A2F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675120" y="5961888"/>
            <a:ext cx="23774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9AA3B2"/>
                </a:solidFill>
                <a:latin typeface="Inter"/>
              </a:rPr>
              <a:t>Mobile-friendly</a:t>
            </a:r>
          </a:p>
        </p:txBody>
      </p:sp>
      <p:sp>
        <p:nvSpPr>
          <p:cNvPr id="65" name="Rectangle 64"/>
          <p:cNvSpPr/>
          <p:nvPr/>
        </p:nvSpPr>
        <p:spPr>
          <a:xfrm>
            <a:off x="9144000" y="6400800"/>
            <a:ext cx="2651760" cy="6350"/>
          </a:xfrm>
          <a:prstGeom prst="rect">
            <a:avLst/>
          </a:prstGeom>
          <a:solidFill>
            <a:srgbClr val="2A2F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9326880" y="5961888"/>
            <a:ext cx="23774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9AA3B2"/>
                </a:solidFill>
                <a:latin typeface="Inter"/>
              </a:rPr>
              <a:t>Browser default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5A6473"/>
                </a:solidFill>
                <a:latin typeface="Inter"/>
              </a:rPr>
              <a:t>FrameDrops  ·  Confidential  ·  framedrops.in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0607040" y="644652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5A6473"/>
                </a:solidFill>
                <a:latin typeface="Inter"/>
              </a:rPr>
              <a:t>06 / 13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1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777240"/>
            <a:ext cx="1463040" cy="292608"/>
          </a:xfrm>
          <a:prstGeom prst="roundRect">
            <a:avLst>
              <a:gd name="adj" fmla="val 50000"/>
            </a:avLst>
          </a:prstGeom>
          <a:solidFill>
            <a:srgbClr val="F065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100" b="1">
                <a:solidFill>
                  <a:srgbClr val="0E1116"/>
                </a:solidFill>
                <a:latin typeface="Inter Tight"/>
              </a:rPr>
              <a:t>BUSINESS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109728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200" b="1">
                <a:solidFill>
                  <a:srgbClr val="F7F3EE"/>
                </a:solidFill>
                <a:latin typeface="Inter Tight"/>
              </a:rPr>
              <a:t>Pay-per-album usage + payment take rate.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560320"/>
            <a:ext cx="5486400" cy="3383280"/>
          </a:xfrm>
          <a:prstGeom prst="roundRect">
            <a:avLst>
              <a:gd name="adj" fmla="val 6000"/>
            </a:avLst>
          </a:prstGeom>
          <a:solidFill>
            <a:srgbClr val="161A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301752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F0653B"/>
                </a:solidFill>
                <a:latin typeface="Inter Tight"/>
              </a:rPr>
              <a:t>1. PHOTOGRAPHER UNLOCK FEES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3566160"/>
            <a:ext cx="45720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400" b="1">
                <a:solidFill>
                  <a:srgbClr val="F7F3EE"/>
                </a:solidFill>
                <a:latin typeface="Inter Tight"/>
              </a:rPr>
              <a:t>₹149 – ₹299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452628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9AA3B2"/>
                </a:solidFill>
                <a:latin typeface="Inter"/>
              </a:rPr>
              <a:t>per album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4983480"/>
            <a:ext cx="45720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>
                <a:solidFill>
                  <a:srgbClr val="F7F3EE"/>
                </a:solidFill>
                <a:latin typeface="Inter"/>
              </a:rPr>
              <a:t>3 tiers by image count. Photographers</a:t>
            </a:r>
          </a:p>
          <a:p>
            <a:pPr algn="l">
              <a:lnSpc>
                <a:spcPct val="140000"/>
              </a:lnSpc>
            </a:pPr>
            <a:r>
              <a:rPr sz="1200" b="0">
                <a:solidFill>
                  <a:srgbClr val="F7F3EE"/>
                </a:solidFill>
                <a:latin typeface="Inter"/>
              </a:rPr>
              <a:t>pay to unlock client deliveries after</a:t>
            </a:r>
          </a:p>
          <a:p>
            <a:pPr algn="l">
              <a:lnSpc>
                <a:spcPct val="140000"/>
              </a:lnSpc>
            </a:pPr>
            <a:r>
              <a:rPr sz="1200" b="0">
                <a:solidFill>
                  <a:srgbClr val="F7F3EE"/>
                </a:solidFill>
                <a:latin typeface="Inter"/>
              </a:rPr>
              <a:t>the 300-image lifetime free quota.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2560320"/>
            <a:ext cx="5486400" cy="3383280"/>
          </a:xfrm>
          <a:prstGeom prst="roundRect">
            <a:avLst>
              <a:gd name="adj" fmla="val 6000"/>
            </a:avLst>
          </a:prstGeom>
          <a:solidFill>
            <a:srgbClr val="161A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29400" y="301752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F0653B"/>
                </a:solidFill>
                <a:latin typeface="Inter Tight"/>
              </a:rPr>
              <a:t>2. PAYMENT TAKE RATE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29400" y="3566160"/>
            <a:ext cx="45720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400" b="1">
                <a:solidFill>
                  <a:srgbClr val="F7F3EE"/>
                </a:solidFill>
                <a:latin typeface="Inter Tight"/>
              </a:rPr>
              <a:t>Commission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29400" y="452628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9AA3B2"/>
                </a:solidFill>
                <a:latin typeface="Inter"/>
              </a:rPr>
              <a:t>on client → photographer flow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29400" y="4983480"/>
            <a:ext cx="45720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>
                <a:solidFill>
                  <a:srgbClr val="F7F3EE"/>
                </a:solidFill>
                <a:latin typeface="Inter"/>
              </a:rPr>
              <a:t>Clients pay photographers in-platform.</a:t>
            </a:r>
          </a:p>
          <a:p>
            <a:pPr algn="l">
              <a:lnSpc>
                <a:spcPct val="140000"/>
              </a:lnSpc>
            </a:pPr>
            <a:r>
              <a:rPr sz="1200" b="0">
                <a:solidFill>
                  <a:srgbClr val="F7F3EE"/>
                </a:solidFill>
                <a:latin typeface="Inter"/>
              </a:rPr>
              <a:t>Photographer earnings flow into a</a:t>
            </a:r>
          </a:p>
          <a:p>
            <a:pPr algn="l">
              <a:lnSpc>
                <a:spcPct val="140000"/>
              </a:lnSpc>
            </a:pPr>
            <a:r>
              <a:rPr sz="1200" b="0">
                <a:solidFill>
                  <a:srgbClr val="F7F3EE"/>
                </a:solidFill>
                <a:latin typeface="Inter"/>
              </a:rPr>
              <a:t>FrameDrops wallet, minus platform fee.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2179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5A6473"/>
                </a:solidFill>
                <a:latin typeface="Inter"/>
              </a:rPr>
              <a:t>ARPU compounds: more shoots → more albums unlocked → more client payments → more take rate. No subscriptions.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5A6473"/>
                </a:solidFill>
                <a:latin typeface="Inter"/>
              </a:rPr>
              <a:t>FrameDrops  ·  Confidential  ·  framedrops.in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7040" y="644652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5A6473"/>
                </a:solidFill>
                <a:latin typeface="Inter"/>
              </a:rPr>
              <a:t>07 / 13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1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777240"/>
            <a:ext cx="1463040" cy="292608"/>
          </a:xfrm>
          <a:prstGeom prst="roundRect">
            <a:avLst>
              <a:gd name="adj" fmla="val 50000"/>
            </a:avLst>
          </a:prstGeom>
          <a:solidFill>
            <a:srgbClr val="F065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100" b="1">
                <a:solidFill>
                  <a:srgbClr val="0E1116"/>
                </a:solidFill>
                <a:latin typeface="Inter Tight"/>
              </a:rPr>
              <a:t>UNIT ECONOMICS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109728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200" b="1">
                <a:solidFill>
                  <a:srgbClr val="F7F3EE"/>
                </a:solidFill>
                <a:latin typeface="Inter Tight"/>
              </a:rPr>
              <a:t>99% gross margin. Profitable from photographer #1.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468880"/>
            <a:ext cx="3657600" cy="1554480"/>
          </a:xfrm>
          <a:prstGeom prst="roundRect">
            <a:avLst>
              <a:gd name="adj" fmla="val 6000"/>
            </a:avLst>
          </a:prstGeom>
          <a:solidFill>
            <a:srgbClr val="161A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2468880"/>
            <a:ext cx="73152" cy="1554480"/>
          </a:xfrm>
          <a:prstGeom prst="rect">
            <a:avLst/>
          </a:prstGeom>
          <a:solidFill>
            <a:srgbClr val="F065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697480"/>
            <a:ext cx="310896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400" b="1">
                <a:solidFill>
                  <a:srgbClr val="F7F3EE"/>
                </a:solidFill>
                <a:latin typeface="Inter Tight"/>
              </a:rPr>
              <a:t>₹387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474720"/>
            <a:ext cx="31089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>
                <a:solidFill>
                  <a:srgbClr val="9AA3B2"/>
                </a:solidFill>
                <a:latin typeface="Inter"/>
              </a:rPr>
              <a:t>revenue per</a:t>
            </a:r>
          </a:p>
          <a:p>
            <a:pPr algn="l">
              <a:lnSpc>
                <a:spcPct val="135000"/>
              </a:lnSpc>
            </a:pPr>
            <a:r>
              <a:rPr sz="1200" b="0">
                <a:solidFill>
                  <a:srgbClr val="9AA3B2"/>
                </a:solidFill>
                <a:latin typeface="Inter"/>
              </a:rPr>
              <a:t>photographer / mo (launch)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2468880"/>
            <a:ext cx="3657600" cy="1554480"/>
          </a:xfrm>
          <a:prstGeom prst="roundRect">
            <a:avLst>
              <a:gd name="adj" fmla="val 6000"/>
            </a:avLst>
          </a:prstGeom>
          <a:solidFill>
            <a:srgbClr val="161A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43400" y="2468880"/>
            <a:ext cx="73152" cy="1554480"/>
          </a:xfrm>
          <a:prstGeom prst="rect">
            <a:avLst/>
          </a:prstGeom>
          <a:solidFill>
            <a:srgbClr val="F065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09160" y="2697480"/>
            <a:ext cx="310896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400" b="1">
                <a:solidFill>
                  <a:srgbClr val="F7F3EE"/>
                </a:solidFill>
                <a:latin typeface="Inter Tight"/>
              </a:rPr>
              <a:t>₹8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09160" y="3474720"/>
            <a:ext cx="31089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>
                <a:solidFill>
                  <a:srgbClr val="9AA3B2"/>
                </a:solidFill>
                <a:latin typeface="Inter"/>
              </a:rPr>
              <a:t>infra cost per</a:t>
            </a:r>
          </a:p>
          <a:p>
            <a:pPr algn="l">
              <a:lnSpc>
                <a:spcPct val="135000"/>
              </a:lnSpc>
            </a:pPr>
            <a:r>
              <a:rPr sz="1200" b="0">
                <a:solidFill>
                  <a:srgbClr val="9AA3B2"/>
                </a:solidFill>
                <a:latin typeface="Inter"/>
              </a:rPr>
              <a:t>photographer / mo (launch)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38160" y="2468880"/>
            <a:ext cx="3657600" cy="1554480"/>
          </a:xfrm>
          <a:prstGeom prst="roundRect">
            <a:avLst>
              <a:gd name="adj" fmla="val 6000"/>
            </a:avLst>
          </a:prstGeom>
          <a:solidFill>
            <a:srgbClr val="161A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138160" y="2468880"/>
            <a:ext cx="73152" cy="1554480"/>
          </a:xfrm>
          <a:prstGeom prst="rect">
            <a:avLst/>
          </a:prstGeom>
          <a:solidFill>
            <a:srgbClr val="F065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03920" y="2697480"/>
            <a:ext cx="310896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400" b="1">
                <a:solidFill>
                  <a:srgbClr val="F7F3EE"/>
                </a:solidFill>
                <a:latin typeface="Inter Tight"/>
              </a:rPr>
              <a:t>99%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20" y="3474720"/>
            <a:ext cx="31089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>
                <a:solidFill>
                  <a:srgbClr val="9AA3B2"/>
                </a:solidFill>
                <a:latin typeface="Inter"/>
              </a:rPr>
              <a:t>gross margin</a:t>
            </a:r>
          </a:p>
          <a:p>
            <a:pPr algn="l">
              <a:lnSpc>
                <a:spcPct val="135000"/>
              </a:lnSpc>
            </a:pPr>
            <a:r>
              <a:rPr sz="1200" b="0">
                <a:solidFill>
                  <a:srgbClr val="9AA3B2"/>
                </a:solidFill>
                <a:latin typeface="Inter"/>
              </a:rPr>
              <a:t>at every scale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4681728"/>
            <a:ext cx="3200400" cy="6350"/>
          </a:xfrm>
          <a:prstGeom prst="rect">
            <a:avLst/>
          </a:prstGeom>
          <a:solidFill>
            <a:srgbClr val="2A2F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749040" y="4681728"/>
            <a:ext cx="2103120" cy="6350"/>
          </a:xfrm>
          <a:prstGeom prst="rect">
            <a:avLst/>
          </a:prstGeom>
          <a:solidFill>
            <a:srgbClr val="2A2F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886200" y="4297680"/>
            <a:ext cx="18288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1">
                <a:solidFill>
                  <a:srgbClr val="F0653B"/>
                </a:solidFill>
                <a:latin typeface="Inter Tight"/>
              </a:rPr>
              <a:t>100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852160" y="4681728"/>
            <a:ext cx="2103120" cy="6350"/>
          </a:xfrm>
          <a:prstGeom prst="rect">
            <a:avLst/>
          </a:prstGeom>
          <a:solidFill>
            <a:srgbClr val="2A2F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89320" y="4297680"/>
            <a:ext cx="18288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1">
                <a:solidFill>
                  <a:srgbClr val="F0653B"/>
                </a:solidFill>
                <a:latin typeface="Inter Tight"/>
              </a:rPr>
              <a:t>1,000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955280" y="4681728"/>
            <a:ext cx="2103120" cy="6350"/>
          </a:xfrm>
          <a:prstGeom prst="rect">
            <a:avLst/>
          </a:prstGeom>
          <a:solidFill>
            <a:srgbClr val="2A2F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92440" y="4297680"/>
            <a:ext cx="18288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1">
                <a:solidFill>
                  <a:srgbClr val="F0653B"/>
                </a:solidFill>
                <a:latin typeface="Inter Tight"/>
              </a:rPr>
              <a:t>10,000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0058400" y="4681728"/>
            <a:ext cx="1554480" cy="6350"/>
          </a:xfrm>
          <a:prstGeom prst="rect">
            <a:avLst/>
          </a:prstGeom>
          <a:solidFill>
            <a:srgbClr val="2A2F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195560" y="4297680"/>
            <a:ext cx="128016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1">
                <a:solidFill>
                  <a:srgbClr val="F0653B"/>
                </a:solidFill>
                <a:latin typeface="Inter Tight"/>
              </a:rPr>
              <a:t>1M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5065776"/>
            <a:ext cx="3200400" cy="6350"/>
          </a:xfrm>
          <a:prstGeom prst="rect">
            <a:avLst/>
          </a:prstGeom>
          <a:solidFill>
            <a:srgbClr val="2A2F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5800" y="4681728"/>
            <a:ext cx="29260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9AA3B2"/>
                </a:solidFill>
                <a:latin typeface="Inter"/>
              </a:rPr>
              <a:t>Albums / month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749040" y="5065776"/>
            <a:ext cx="2103120" cy="6350"/>
          </a:xfrm>
          <a:prstGeom prst="rect">
            <a:avLst/>
          </a:prstGeom>
          <a:solidFill>
            <a:srgbClr val="2A2F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886200" y="4681728"/>
            <a:ext cx="18288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300" b="0">
                <a:solidFill>
                  <a:srgbClr val="F7F3EE"/>
                </a:solidFill>
                <a:latin typeface="Inter"/>
              </a:rPr>
              <a:t>396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852160" y="5065776"/>
            <a:ext cx="2103120" cy="6350"/>
          </a:xfrm>
          <a:prstGeom prst="rect">
            <a:avLst/>
          </a:prstGeom>
          <a:solidFill>
            <a:srgbClr val="2A2F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989320" y="4681728"/>
            <a:ext cx="18288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300" b="0">
                <a:solidFill>
                  <a:srgbClr val="F7F3EE"/>
                </a:solidFill>
                <a:latin typeface="Inter"/>
              </a:rPr>
              <a:t>3,960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955280" y="5065776"/>
            <a:ext cx="2103120" cy="6350"/>
          </a:xfrm>
          <a:prstGeom prst="rect">
            <a:avLst/>
          </a:prstGeom>
          <a:solidFill>
            <a:srgbClr val="2A2F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092440" y="4681728"/>
            <a:ext cx="18288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300" b="0">
                <a:solidFill>
                  <a:srgbClr val="F7F3EE"/>
                </a:solidFill>
                <a:latin typeface="Inter"/>
              </a:rPr>
              <a:t>39,600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0058400" y="5065776"/>
            <a:ext cx="1554480" cy="6350"/>
          </a:xfrm>
          <a:prstGeom prst="rect">
            <a:avLst/>
          </a:prstGeom>
          <a:solidFill>
            <a:srgbClr val="2A2F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195560" y="4681728"/>
            <a:ext cx="128016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300" b="0">
                <a:solidFill>
                  <a:srgbClr val="F7F3EE"/>
                </a:solidFill>
                <a:latin typeface="Inter"/>
              </a:rPr>
              <a:t>39.6 L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48640" y="5449824"/>
            <a:ext cx="3200400" cy="6350"/>
          </a:xfrm>
          <a:prstGeom prst="rect">
            <a:avLst/>
          </a:prstGeom>
          <a:solidFill>
            <a:srgbClr val="2A2F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85800" y="5065776"/>
            <a:ext cx="29260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9AA3B2"/>
                </a:solidFill>
                <a:latin typeface="Inter"/>
              </a:rPr>
              <a:t>Total infra cost / mo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749040" y="5449824"/>
            <a:ext cx="2103120" cy="6350"/>
          </a:xfrm>
          <a:prstGeom prst="rect">
            <a:avLst/>
          </a:prstGeom>
          <a:solidFill>
            <a:srgbClr val="2A2F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886200" y="5065776"/>
            <a:ext cx="18288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300" b="0">
                <a:solidFill>
                  <a:srgbClr val="F7F3EE"/>
                </a:solidFill>
                <a:latin typeface="Inter"/>
              </a:rPr>
              <a:t>₹396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852160" y="5449824"/>
            <a:ext cx="2103120" cy="6350"/>
          </a:xfrm>
          <a:prstGeom prst="rect">
            <a:avLst/>
          </a:prstGeom>
          <a:solidFill>
            <a:srgbClr val="2A2F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989320" y="5065776"/>
            <a:ext cx="18288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300" b="0">
                <a:solidFill>
                  <a:srgbClr val="F7F3EE"/>
                </a:solidFill>
                <a:latin typeface="Inter"/>
              </a:rPr>
              <a:t>₹4.0 K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955280" y="5449824"/>
            <a:ext cx="2103120" cy="6350"/>
          </a:xfrm>
          <a:prstGeom prst="rect">
            <a:avLst/>
          </a:prstGeom>
          <a:solidFill>
            <a:srgbClr val="2A2F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092440" y="5065776"/>
            <a:ext cx="18288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300" b="0">
                <a:solidFill>
                  <a:srgbClr val="F7F3EE"/>
                </a:solidFill>
                <a:latin typeface="Inter"/>
              </a:rPr>
              <a:t>₹39.6 K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0058400" y="5449824"/>
            <a:ext cx="1554480" cy="6350"/>
          </a:xfrm>
          <a:prstGeom prst="rect">
            <a:avLst/>
          </a:prstGeom>
          <a:solidFill>
            <a:srgbClr val="2A2F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0195560" y="5065776"/>
            <a:ext cx="128016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300" b="0">
                <a:solidFill>
                  <a:srgbClr val="F7F3EE"/>
                </a:solidFill>
                <a:latin typeface="Inter"/>
              </a:rPr>
              <a:t>₹39.6 L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48640" y="5833872"/>
            <a:ext cx="3200400" cy="6350"/>
          </a:xfrm>
          <a:prstGeom prst="rect">
            <a:avLst/>
          </a:prstGeom>
          <a:solidFill>
            <a:srgbClr val="2A2F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85800" y="5449824"/>
            <a:ext cx="29260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9AA3B2"/>
                </a:solidFill>
                <a:latin typeface="Inter"/>
              </a:rPr>
              <a:t>Revenue / mo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749040" y="5833872"/>
            <a:ext cx="2103120" cy="6350"/>
          </a:xfrm>
          <a:prstGeom prst="rect">
            <a:avLst/>
          </a:prstGeom>
          <a:solidFill>
            <a:srgbClr val="2A2F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886200" y="5449824"/>
            <a:ext cx="18288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300" b="0">
                <a:solidFill>
                  <a:srgbClr val="F7F3EE"/>
                </a:solidFill>
                <a:latin typeface="Inter"/>
              </a:rPr>
              <a:t>₹38.7 K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852160" y="5833872"/>
            <a:ext cx="2103120" cy="6350"/>
          </a:xfrm>
          <a:prstGeom prst="rect">
            <a:avLst/>
          </a:prstGeom>
          <a:solidFill>
            <a:srgbClr val="2A2F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989320" y="5449824"/>
            <a:ext cx="18288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300" b="0">
                <a:solidFill>
                  <a:srgbClr val="F7F3EE"/>
                </a:solidFill>
                <a:latin typeface="Inter"/>
              </a:rPr>
              <a:t>₹3.9 L</a:t>
            </a:r>
          </a:p>
        </p:txBody>
      </p:sp>
      <p:sp>
        <p:nvSpPr>
          <p:cNvPr id="52" name="Rectangle 51"/>
          <p:cNvSpPr/>
          <p:nvPr/>
        </p:nvSpPr>
        <p:spPr>
          <a:xfrm>
            <a:off x="7955280" y="5833872"/>
            <a:ext cx="2103120" cy="6350"/>
          </a:xfrm>
          <a:prstGeom prst="rect">
            <a:avLst/>
          </a:prstGeom>
          <a:solidFill>
            <a:srgbClr val="2A2F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092440" y="5449824"/>
            <a:ext cx="18288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300" b="0">
                <a:solidFill>
                  <a:srgbClr val="F7F3EE"/>
                </a:solidFill>
                <a:latin typeface="Inter"/>
              </a:rPr>
              <a:t>₹38.7 L</a:t>
            </a:r>
          </a:p>
        </p:txBody>
      </p:sp>
      <p:sp>
        <p:nvSpPr>
          <p:cNvPr id="54" name="Rectangle 53"/>
          <p:cNvSpPr/>
          <p:nvPr/>
        </p:nvSpPr>
        <p:spPr>
          <a:xfrm>
            <a:off x="10058400" y="5833872"/>
            <a:ext cx="1554480" cy="6350"/>
          </a:xfrm>
          <a:prstGeom prst="rect">
            <a:avLst/>
          </a:prstGeom>
          <a:solidFill>
            <a:srgbClr val="2A2F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0195560" y="5449824"/>
            <a:ext cx="128016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300" b="0">
                <a:solidFill>
                  <a:srgbClr val="F7F3EE"/>
                </a:solidFill>
                <a:latin typeface="Inter"/>
              </a:rPr>
              <a:t>₹38.7 Cr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48640" y="6217920"/>
            <a:ext cx="3200400" cy="6350"/>
          </a:xfrm>
          <a:prstGeom prst="rect">
            <a:avLst/>
          </a:prstGeom>
          <a:solidFill>
            <a:srgbClr val="2A2F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85800" y="5833872"/>
            <a:ext cx="29260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9AA3B2"/>
                </a:solidFill>
                <a:latin typeface="Inter"/>
              </a:rPr>
              <a:t>Profit / mo</a:t>
            </a:r>
          </a:p>
        </p:txBody>
      </p:sp>
      <p:sp>
        <p:nvSpPr>
          <p:cNvPr id="58" name="Rectangle 57"/>
          <p:cNvSpPr/>
          <p:nvPr/>
        </p:nvSpPr>
        <p:spPr>
          <a:xfrm>
            <a:off x="3749040" y="6217920"/>
            <a:ext cx="2103120" cy="6350"/>
          </a:xfrm>
          <a:prstGeom prst="rect">
            <a:avLst/>
          </a:prstGeom>
          <a:solidFill>
            <a:srgbClr val="2A2F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3886200" y="5833872"/>
            <a:ext cx="18288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300" b="0">
                <a:solidFill>
                  <a:srgbClr val="F7F3EE"/>
                </a:solidFill>
                <a:latin typeface="Inter"/>
              </a:rPr>
              <a:t>₹38.3 K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852160" y="6217920"/>
            <a:ext cx="2103120" cy="6350"/>
          </a:xfrm>
          <a:prstGeom prst="rect">
            <a:avLst/>
          </a:prstGeom>
          <a:solidFill>
            <a:srgbClr val="2A2F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5989320" y="5833872"/>
            <a:ext cx="18288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300" b="0">
                <a:solidFill>
                  <a:srgbClr val="F7F3EE"/>
                </a:solidFill>
                <a:latin typeface="Inter"/>
              </a:rPr>
              <a:t>₹3.8 L</a:t>
            </a:r>
          </a:p>
        </p:txBody>
      </p:sp>
      <p:sp>
        <p:nvSpPr>
          <p:cNvPr id="62" name="Rectangle 61"/>
          <p:cNvSpPr/>
          <p:nvPr/>
        </p:nvSpPr>
        <p:spPr>
          <a:xfrm>
            <a:off x="7955280" y="6217920"/>
            <a:ext cx="2103120" cy="6350"/>
          </a:xfrm>
          <a:prstGeom prst="rect">
            <a:avLst/>
          </a:prstGeom>
          <a:solidFill>
            <a:srgbClr val="2A2F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8092440" y="5833872"/>
            <a:ext cx="18288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300" b="0">
                <a:solidFill>
                  <a:srgbClr val="F7F3EE"/>
                </a:solidFill>
                <a:latin typeface="Inter"/>
              </a:rPr>
              <a:t>₹38.3 L</a:t>
            </a:r>
          </a:p>
        </p:txBody>
      </p:sp>
      <p:sp>
        <p:nvSpPr>
          <p:cNvPr id="64" name="Rectangle 63"/>
          <p:cNvSpPr/>
          <p:nvPr/>
        </p:nvSpPr>
        <p:spPr>
          <a:xfrm>
            <a:off x="10058400" y="6217920"/>
            <a:ext cx="1554480" cy="6350"/>
          </a:xfrm>
          <a:prstGeom prst="rect">
            <a:avLst/>
          </a:prstGeom>
          <a:solidFill>
            <a:srgbClr val="2A2F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10195560" y="5833872"/>
            <a:ext cx="128016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300" b="0">
                <a:solidFill>
                  <a:srgbClr val="F7F3EE"/>
                </a:solidFill>
                <a:latin typeface="Inter"/>
              </a:rPr>
              <a:t>₹38.3 Cr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85800" y="6217920"/>
            <a:ext cx="29260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9AA3B2"/>
                </a:solidFill>
                <a:latin typeface="Inter"/>
              </a:rPr>
              <a:t>Gross margin</a:t>
            </a:r>
          </a:p>
        </p:txBody>
      </p:sp>
      <p:sp>
        <p:nvSpPr>
          <p:cNvPr id="67" name="Rectangle 66"/>
          <p:cNvSpPr/>
          <p:nvPr/>
        </p:nvSpPr>
        <p:spPr>
          <a:xfrm>
            <a:off x="3749040" y="6217920"/>
            <a:ext cx="2103120" cy="384048"/>
          </a:xfrm>
          <a:prstGeom prst="rect">
            <a:avLst/>
          </a:prstGeom>
          <a:solidFill>
            <a:srgbClr val="1F14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3886200" y="6217920"/>
            <a:ext cx="18288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>
                <a:solidFill>
                  <a:srgbClr val="F0653B"/>
                </a:solidFill>
                <a:latin typeface="Inter Tight"/>
              </a:rPr>
              <a:t>99.0%</a:t>
            </a:r>
          </a:p>
        </p:txBody>
      </p:sp>
      <p:sp>
        <p:nvSpPr>
          <p:cNvPr id="69" name="Rectangle 68"/>
          <p:cNvSpPr/>
          <p:nvPr/>
        </p:nvSpPr>
        <p:spPr>
          <a:xfrm>
            <a:off x="5852160" y="6217920"/>
            <a:ext cx="2103120" cy="384048"/>
          </a:xfrm>
          <a:prstGeom prst="rect">
            <a:avLst/>
          </a:prstGeom>
          <a:solidFill>
            <a:srgbClr val="1F14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5989320" y="6217920"/>
            <a:ext cx="18288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>
                <a:solidFill>
                  <a:srgbClr val="F0653B"/>
                </a:solidFill>
                <a:latin typeface="Inter Tight"/>
              </a:rPr>
              <a:t>99.0%</a:t>
            </a:r>
          </a:p>
        </p:txBody>
      </p:sp>
      <p:sp>
        <p:nvSpPr>
          <p:cNvPr id="71" name="Rectangle 70"/>
          <p:cNvSpPr/>
          <p:nvPr/>
        </p:nvSpPr>
        <p:spPr>
          <a:xfrm>
            <a:off x="7955280" y="6217920"/>
            <a:ext cx="2103120" cy="384048"/>
          </a:xfrm>
          <a:prstGeom prst="rect">
            <a:avLst/>
          </a:prstGeom>
          <a:solidFill>
            <a:srgbClr val="1F14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8092440" y="6217920"/>
            <a:ext cx="18288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>
                <a:solidFill>
                  <a:srgbClr val="F0653B"/>
                </a:solidFill>
                <a:latin typeface="Inter Tight"/>
              </a:rPr>
              <a:t>99.0%</a:t>
            </a:r>
          </a:p>
        </p:txBody>
      </p:sp>
      <p:sp>
        <p:nvSpPr>
          <p:cNvPr id="73" name="Rectangle 72"/>
          <p:cNvSpPr/>
          <p:nvPr/>
        </p:nvSpPr>
        <p:spPr>
          <a:xfrm>
            <a:off x="10058400" y="6217920"/>
            <a:ext cx="1554480" cy="384048"/>
          </a:xfrm>
          <a:prstGeom prst="rect">
            <a:avLst/>
          </a:prstGeom>
          <a:solidFill>
            <a:srgbClr val="1F14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10195560" y="6217920"/>
            <a:ext cx="128016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>
                <a:solidFill>
                  <a:srgbClr val="F0653B"/>
                </a:solidFill>
                <a:latin typeface="Inter Tight"/>
              </a:rPr>
              <a:t>99.0%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3749040" y="3931920"/>
            <a:ext cx="7863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1">
                <a:solidFill>
                  <a:srgbClr val="5A6473"/>
                </a:solidFill>
                <a:latin typeface="Inter Tight"/>
              </a:rPr>
              <a:t>ACTIVE PHOTOGRAPHERS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5A6473"/>
                </a:solidFill>
                <a:latin typeface="Inter"/>
              </a:rPr>
              <a:t>Compressed-only pipeline (~250 KB / photo) on Cloudflare R2 (zero egress). 30-day retention. ARPU shown at launch pricing (₹149–₹299/album); regular pricing (₹199–₹399) lifts ARPU to ₹459/mo. Excludes payment-processor fees and CAC.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5A6473"/>
                </a:solidFill>
                <a:latin typeface="Inter"/>
              </a:rPr>
              <a:t>FrameDrops  ·  Confidential  ·  framedrops.in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10607040" y="644652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5A6473"/>
                </a:solidFill>
                <a:latin typeface="Inter"/>
              </a:rPr>
              <a:t>08 / 13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1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777240"/>
            <a:ext cx="1463040" cy="292608"/>
          </a:xfrm>
          <a:prstGeom prst="roundRect">
            <a:avLst>
              <a:gd name="adj" fmla="val 50000"/>
            </a:avLst>
          </a:prstGeom>
          <a:solidFill>
            <a:srgbClr val="F065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100" b="1">
                <a:solidFill>
                  <a:srgbClr val="0E1116"/>
                </a:solidFill>
                <a:latin typeface="Inter Tight"/>
              </a:rPr>
              <a:t>MARKET OPPORTUNITY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109728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200" b="1">
                <a:solidFill>
                  <a:srgbClr val="F7F3EE"/>
                </a:solidFill>
                <a:latin typeface="Inter Tight"/>
              </a:rPr>
              <a:t>A clear path to ₹100 Cr ARR.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651760"/>
            <a:ext cx="10058400" cy="822960"/>
          </a:xfrm>
          <a:prstGeom prst="roundRect">
            <a:avLst>
              <a:gd name="adj" fmla="val 6000"/>
            </a:avLst>
          </a:prstGeom>
          <a:solidFill>
            <a:srgbClr val="161A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743200"/>
            <a:ext cx="219456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F0653B"/>
                </a:solidFill>
                <a:latin typeface="Inter Tight"/>
              </a:rPr>
              <a:t>TAM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108960" y="2743200"/>
            <a:ext cx="713232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F7F3EE"/>
                </a:solidFill>
                <a:latin typeface="Inter"/>
              </a:rPr>
              <a:t>₹1L Cr+ Indian wedding &amp; events industry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691640" y="3611880"/>
            <a:ext cx="7772400" cy="822960"/>
          </a:xfrm>
          <a:prstGeom prst="roundRect">
            <a:avLst>
              <a:gd name="adj" fmla="val 6000"/>
            </a:avLst>
          </a:prstGeom>
          <a:solidFill>
            <a:srgbClr val="321A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057400" y="3703320"/>
            <a:ext cx="219456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F0653B"/>
                </a:solidFill>
                <a:latin typeface="Inter Tight"/>
              </a:rPr>
              <a:t>SAM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51960" y="3703320"/>
            <a:ext cx="484632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F7F3EE"/>
                </a:solidFill>
                <a:latin typeface="Inter"/>
              </a:rPr>
              <a:t>200K+ active professional photographers in India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834640" y="4572000"/>
            <a:ext cx="5486400" cy="822960"/>
          </a:xfrm>
          <a:prstGeom prst="roundRect">
            <a:avLst>
              <a:gd name="adj" fmla="val 6000"/>
            </a:avLst>
          </a:prstGeom>
          <a:solidFill>
            <a:srgbClr val="F065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0" y="4663440"/>
            <a:ext cx="219456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0E1116"/>
                </a:solidFill>
                <a:latin typeface="Inter Tight"/>
              </a:rPr>
              <a:t>SOM (Year 3)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94960" y="4663440"/>
            <a:ext cx="256032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0E1116"/>
                </a:solidFill>
                <a:latin typeface="Inter"/>
              </a:rPr>
              <a:t>20K active photographers × ₹5.5K avg annual spend ≈ ₹11 Cr ARR at regular pricing (~₹9 Cr at launch). Scaling to 200K photographers ⇒ ₹110 Cr ARR.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585216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0">
                <a:solidFill>
                  <a:srgbClr val="9AA3B2"/>
                </a:solidFill>
                <a:latin typeface="Inter"/>
              </a:rPr>
              <a:t>Expansion path: Tier-2/3 India → Pan-India → Southeast Asia</a:t>
            </a:r>
          </a:p>
          <a:p>
            <a:pPr algn="l">
              <a:lnSpc>
                <a:spcPct val="150000"/>
              </a:lnSpc>
            </a:pPr>
            <a:r>
              <a:rPr sz="1300" b="0">
                <a:solidFill>
                  <a:srgbClr val="9AA3B2"/>
                </a:solidFill>
                <a:latin typeface="Inter"/>
              </a:rPr>
              <a:t>(Indonesia, Bangladesh, Sri Lanka share the same gap).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5A6473"/>
                </a:solidFill>
                <a:latin typeface="Inter"/>
              </a:rPr>
              <a:t>FrameDrops  ·  Confidential  ·  framedrops.in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07040" y="644652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5A6473"/>
                </a:solidFill>
                <a:latin typeface="Inter"/>
              </a:rPr>
              <a:t>09 / 13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1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777240"/>
            <a:ext cx="1463040" cy="292608"/>
          </a:xfrm>
          <a:prstGeom prst="roundRect">
            <a:avLst>
              <a:gd name="adj" fmla="val 50000"/>
            </a:avLst>
          </a:prstGeom>
          <a:solidFill>
            <a:srgbClr val="F065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100" b="1">
                <a:solidFill>
                  <a:srgbClr val="0E1116"/>
                </a:solidFill>
                <a:latin typeface="Inter Tight"/>
              </a:rPr>
              <a:t>TRACTION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109728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200" b="1">
                <a:solidFill>
                  <a:srgbClr val="F7F3EE"/>
                </a:solidFill>
                <a:latin typeface="Inter Tight"/>
              </a:rPr>
              <a:t>Live product. Real photographers. Real payouts.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560320"/>
            <a:ext cx="2697480" cy="1645920"/>
          </a:xfrm>
          <a:prstGeom prst="roundRect">
            <a:avLst>
              <a:gd name="adj" fmla="val 6000"/>
            </a:avLst>
          </a:prstGeom>
          <a:solidFill>
            <a:srgbClr val="161A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834640"/>
            <a:ext cx="21488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>
                <a:solidFill>
                  <a:srgbClr val="F7F3EE"/>
                </a:solidFill>
                <a:latin typeface="Inter Tight"/>
              </a:rPr>
              <a:t>Live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566160"/>
            <a:ext cx="21488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9AA3B2"/>
                </a:solidFill>
                <a:latin typeface="Inter"/>
              </a:rPr>
              <a:t>product in market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37560" y="2560320"/>
            <a:ext cx="2697480" cy="1645920"/>
          </a:xfrm>
          <a:prstGeom prst="roundRect">
            <a:avLst>
              <a:gd name="adj" fmla="val 6000"/>
            </a:avLst>
          </a:prstGeom>
          <a:solidFill>
            <a:srgbClr val="161A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11880" y="2834640"/>
            <a:ext cx="21488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>
                <a:solidFill>
                  <a:srgbClr val="F7F3EE"/>
                </a:solidFill>
                <a:latin typeface="Inter Tight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11880" y="3566160"/>
            <a:ext cx="21488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9AA3B2"/>
                </a:solidFill>
                <a:latin typeface="Inter"/>
              </a:rPr>
              <a:t>languages shipped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80" y="2560320"/>
            <a:ext cx="2697480" cy="1645920"/>
          </a:xfrm>
          <a:prstGeom prst="roundRect">
            <a:avLst>
              <a:gd name="adj" fmla="val 6000"/>
            </a:avLst>
          </a:prstGeom>
          <a:solidFill>
            <a:srgbClr val="161A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2834640"/>
            <a:ext cx="21488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>
                <a:solidFill>
                  <a:srgbClr val="F7F3EE"/>
                </a:solidFill>
                <a:latin typeface="Inter Tight"/>
              </a:rPr>
              <a:t>End-to-end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3566160"/>
            <a:ext cx="21488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9AA3B2"/>
                </a:solidFill>
                <a:latin typeface="Inter"/>
              </a:rPr>
              <a:t>payments + payouts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915400" y="2560320"/>
            <a:ext cx="2697480" cy="1645920"/>
          </a:xfrm>
          <a:prstGeom prst="roundRect">
            <a:avLst>
              <a:gd name="adj" fmla="val 6000"/>
            </a:avLst>
          </a:prstGeom>
          <a:solidFill>
            <a:srgbClr val="161A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89720" y="2834640"/>
            <a:ext cx="21488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>
                <a:solidFill>
                  <a:srgbClr val="F7F3EE"/>
                </a:solidFill>
                <a:latin typeface="Inter Tight"/>
              </a:rPr>
              <a:t>Audit-grade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89720" y="3566160"/>
            <a:ext cx="21488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9AA3B2"/>
                </a:solidFill>
                <a:latin typeface="Inter"/>
              </a:rPr>
              <a:t>backend &amp; admin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457200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F0653B"/>
                </a:solidFill>
                <a:latin typeface="Inter Tight"/>
              </a:rPr>
              <a:t>ALREADY SHIPPED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4983480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12B886"/>
                </a:solidFill>
                <a:latin typeface="Inter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498348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F7F3EE"/>
                </a:solidFill>
                <a:latin typeface="Inter"/>
              </a:rPr>
              <a:t>Photographer dashboard, albums, gallery flows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5276088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12B886"/>
                </a:solidFill>
                <a:latin typeface="Inter"/>
              </a:rPr>
              <a:t>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" y="5276088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F7F3EE"/>
                </a:solidFill>
                <a:latin typeface="Inter"/>
              </a:rPr>
              <a:t>Client gallery in English, Telugu, Hindi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5568696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12B886"/>
                </a:solidFill>
                <a:latin typeface="Inter"/>
              </a:rPr>
              <a:t>✓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" y="5568696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F7F3EE"/>
                </a:solidFill>
                <a:latin typeface="Inter"/>
              </a:rPr>
              <a:t>Razorpay checkout · UPI + cards · instant payouts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5861304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12B886"/>
                </a:solidFill>
                <a:latin typeface="Inter"/>
              </a:rPr>
              <a:t>✓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8680" y="5861304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F7F3EE"/>
                </a:solidFill>
                <a:latin typeface="Inter"/>
              </a:rPr>
              <a:t>Admin panel: analytics, audit log, payout management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6153912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12B886"/>
                </a:solidFill>
                <a:latin typeface="Inter"/>
              </a:rPr>
              <a:t>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8680" y="6153912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F7F3EE"/>
                </a:solidFill>
                <a:latin typeface="Inter"/>
              </a:rPr>
              <a:t>Background upload engine with resumable transfers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5A6473"/>
                </a:solidFill>
                <a:latin typeface="Inter"/>
              </a:rPr>
              <a:t>FrameDrops  ·  Confidential  ·  framedrops.in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607040" y="644652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5A6473"/>
                </a:solidFill>
                <a:latin typeface="Inter"/>
              </a:rPr>
              <a:t>10 / 13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1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777240"/>
            <a:ext cx="1463040" cy="292608"/>
          </a:xfrm>
          <a:prstGeom prst="roundRect">
            <a:avLst>
              <a:gd name="adj" fmla="val 50000"/>
            </a:avLst>
          </a:prstGeom>
          <a:solidFill>
            <a:srgbClr val="F065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100" b="1">
                <a:solidFill>
                  <a:srgbClr val="0E1116"/>
                </a:solidFill>
                <a:latin typeface="Inter Tight"/>
              </a:rPr>
              <a:t>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109728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200" b="1">
                <a:solidFill>
                  <a:srgbClr val="F7F3EE"/>
                </a:solidFill>
                <a:latin typeface="Inter Tight"/>
              </a:rPr>
              <a:t>12 months. 1,000 paying photographers.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560320"/>
            <a:ext cx="2743200" cy="3291840"/>
          </a:xfrm>
          <a:prstGeom prst="roundRect">
            <a:avLst>
              <a:gd name="adj" fmla="val 6000"/>
            </a:avLst>
          </a:prstGeom>
          <a:solidFill>
            <a:srgbClr val="161A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2560320"/>
            <a:ext cx="2743200" cy="54864"/>
          </a:xfrm>
          <a:prstGeom prst="rect">
            <a:avLst/>
          </a:prstGeom>
          <a:solidFill>
            <a:srgbClr val="F065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880360"/>
            <a:ext cx="2103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F0653B"/>
                </a:solidFill>
                <a:latin typeface="Inter Tight"/>
              </a:rPr>
              <a:t>Q1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3246120"/>
            <a:ext cx="2103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>
                <a:solidFill>
                  <a:srgbClr val="F7F3EE"/>
                </a:solidFill>
                <a:latin typeface="Inter Tight"/>
              </a:rPr>
              <a:t>Launch + GTM</a:t>
            </a:r>
          </a:p>
        </p:txBody>
      </p:sp>
      <p:sp>
        <p:nvSpPr>
          <p:cNvPr id="9" name="Oval 8"/>
          <p:cNvSpPr/>
          <p:nvPr/>
        </p:nvSpPr>
        <p:spPr>
          <a:xfrm>
            <a:off x="868680" y="4023360"/>
            <a:ext cx="91440" cy="91440"/>
          </a:xfrm>
          <a:prstGeom prst="ellipse">
            <a:avLst/>
          </a:prstGeom>
          <a:solidFill>
            <a:srgbClr val="F065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3931920"/>
            <a:ext cx="1920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F7F3EE"/>
                </a:solidFill>
                <a:latin typeface="Inter"/>
              </a:rPr>
              <a:t>Public launch, paid acquisition</a:t>
            </a:r>
          </a:p>
        </p:txBody>
      </p:sp>
      <p:sp>
        <p:nvSpPr>
          <p:cNvPr id="11" name="Oval 10"/>
          <p:cNvSpPr/>
          <p:nvPr/>
        </p:nvSpPr>
        <p:spPr>
          <a:xfrm>
            <a:off x="868680" y="4526280"/>
            <a:ext cx="91440" cy="91440"/>
          </a:xfrm>
          <a:prstGeom prst="ellipse">
            <a:avLst/>
          </a:prstGeom>
          <a:solidFill>
            <a:srgbClr val="F065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51560" y="4434840"/>
            <a:ext cx="1920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F7F3EE"/>
                </a:solidFill>
                <a:latin typeface="Inter"/>
              </a:rPr>
              <a:t>First 200 paying photographers</a:t>
            </a:r>
          </a:p>
        </p:txBody>
      </p:sp>
      <p:sp>
        <p:nvSpPr>
          <p:cNvPr id="13" name="Oval 12"/>
          <p:cNvSpPr/>
          <p:nvPr/>
        </p:nvSpPr>
        <p:spPr>
          <a:xfrm>
            <a:off x="868680" y="5029200"/>
            <a:ext cx="91440" cy="91440"/>
          </a:xfrm>
          <a:prstGeom prst="ellipse">
            <a:avLst/>
          </a:prstGeom>
          <a:solidFill>
            <a:srgbClr val="F065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51560" y="4937760"/>
            <a:ext cx="1920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F7F3EE"/>
                </a:solidFill>
                <a:latin typeface="Inter"/>
              </a:rPr>
              <a:t>Wedding-season ramp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383280" y="2560320"/>
            <a:ext cx="2743200" cy="3291840"/>
          </a:xfrm>
          <a:prstGeom prst="roundRect">
            <a:avLst>
              <a:gd name="adj" fmla="val 6000"/>
            </a:avLst>
          </a:prstGeom>
          <a:solidFill>
            <a:srgbClr val="161A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383280" y="2560320"/>
            <a:ext cx="2743200" cy="54864"/>
          </a:xfrm>
          <a:prstGeom prst="rect">
            <a:avLst/>
          </a:prstGeom>
          <a:solidFill>
            <a:srgbClr val="F065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703320" y="2880360"/>
            <a:ext cx="2103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F0653B"/>
                </a:solidFill>
                <a:latin typeface="Inter Tight"/>
              </a:rPr>
              <a:t>Q2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03320" y="3246120"/>
            <a:ext cx="2103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>
                <a:solidFill>
                  <a:srgbClr val="F7F3EE"/>
                </a:solidFill>
                <a:latin typeface="Inter Tight"/>
              </a:rPr>
              <a:t>Studio tier</a:t>
            </a:r>
          </a:p>
        </p:txBody>
      </p:sp>
      <p:sp>
        <p:nvSpPr>
          <p:cNvPr id="19" name="Oval 18"/>
          <p:cNvSpPr/>
          <p:nvPr/>
        </p:nvSpPr>
        <p:spPr>
          <a:xfrm>
            <a:off x="3703320" y="4023360"/>
            <a:ext cx="91440" cy="91440"/>
          </a:xfrm>
          <a:prstGeom prst="ellipse">
            <a:avLst/>
          </a:prstGeom>
          <a:solidFill>
            <a:srgbClr val="F065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886200" y="3931920"/>
            <a:ext cx="1920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F7F3EE"/>
                </a:solidFill>
                <a:latin typeface="Inter"/>
              </a:rPr>
              <a:t>Multi-user team accounts</a:t>
            </a:r>
          </a:p>
        </p:txBody>
      </p:sp>
      <p:sp>
        <p:nvSpPr>
          <p:cNvPr id="21" name="Oval 20"/>
          <p:cNvSpPr/>
          <p:nvPr/>
        </p:nvSpPr>
        <p:spPr>
          <a:xfrm>
            <a:off x="3703320" y="4526280"/>
            <a:ext cx="91440" cy="91440"/>
          </a:xfrm>
          <a:prstGeom prst="ellipse">
            <a:avLst/>
          </a:prstGeom>
          <a:solidFill>
            <a:srgbClr val="F065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886200" y="4434840"/>
            <a:ext cx="1920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F7F3EE"/>
                </a:solidFill>
                <a:latin typeface="Inter"/>
              </a:rPr>
              <a:t>Studio analytics &amp; roles</a:t>
            </a:r>
          </a:p>
        </p:txBody>
      </p:sp>
      <p:sp>
        <p:nvSpPr>
          <p:cNvPr id="23" name="Oval 22"/>
          <p:cNvSpPr/>
          <p:nvPr/>
        </p:nvSpPr>
        <p:spPr>
          <a:xfrm>
            <a:off x="3703320" y="5029200"/>
            <a:ext cx="91440" cy="91440"/>
          </a:xfrm>
          <a:prstGeom prst="ellipse">
            <a:avLst/>
          </a:prstGeom>
          <a:solidFill>
            <a:srgbClr val="F065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886200" y="4937760"/>
            <a:ext cx="1920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F7F3EE"/>
                </a:solidFill>
                <a:latin typeface="Inter"/>
              </a:rPr>
              <a:t>Marathi + Tamil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17920" y="2560320"/>
            <a:ext cx="2743200" cy="3291840"/>
          </a:xfrm>
          <a:prstGeom prst="roundRect">
            <a:avLst>
              <a:gd name="adj" fmla="val 6000"/>
            </a:avLst>
          </a:prstGeom>
          <a:solidFill>
            <a:srgbClr val="161A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217920" y="2560320"/>
            <a:ext cx="2743200" cy="54864"/>
          </a:xfrm>
          <a:prstGeom prst="rect">
            <a:avLst/>
          </a:prstGeom>
          <a:solidFill>
            <a:srgbClr val="F065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37960" y="2880360"/>
            <a:ext cx="2103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F0653B"/>
                </a:solidFill>
                <a:latin typeface="Inter Tight"/>
              </a:rPr>
              <a:t>Q3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37960" y="3246120"/>
            <a:ext cx="2103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>
                <a:solidFill>
                  <a:srgbClr val="F7F3EE"/>
                </a:solidFill>
                <a:latin typeface="Inter Tight"/>
              </a:rPr>
              <a:t>AI culling</a:t>
            </a:r>
          </a:p>
        </p:txBody>
      </p:sp>
      <p:sp>
        <p:nvSpPr>
          <p:cNvPr id="29" name="Oval 28"/>
          <p:cNvSpPr/>
          <p:nvPr/>
        </p:nvSpPr>
        <p:spPr>
          <a:xfrm>
            <a:off x="6537960" y="4023360"/>
            <a:ext cx="91440" cy="91440"/>
          </a:xfrm>
          <a:prstGeom prst="ellipse">
            <a:avLst/>
          </a:prstGeom>
          <a:solidFill>
            <a:srgbClr val="F065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720840" y="3931920"/>
            <a:ext cx="1920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F7F3EE"/>
                </a:solidFill>
                <a:latin typeface="Inter"/>
              </a:rPr>
              <a:t>AI-assisted photo culling</a:t>
            </a:r>
          </a:p>
        </p:txBody>
      </p:sp>
      <p:sp>
        <p:nvSpPr>
          <p:cNvPr id="31" name="Oval 30"/>
          <p:cNvSpPr/>
          <p:nvPr/>
        </p:nvSpPr>
        <p:spPr>
          <a:xfrm>
            <a:off x="6537960" y="4526280"/>
            <a:ext cx="91440" cy="91440"/>
          </a:xfrm>
          <a:prstGeom prst="ellipse">
            <a:avLst/>
          </a:prstGeom>
          <a:solidFill>
            <a:srgbClr val="F065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720840" y="4434840"/>
            <a:ext cx="1920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F7F3EE"/>
                </a:solidFill>
                <a:latin typeface="Inter"/>
              </a:rPr>
              <a:t>Smart album organization</a:t>
            </a:r>
          </a:p>
        </p:txBody>
      </p:sp>
      <p:sp>
        <p:nvSpPr>
          <p:cNvPr id="33" name="Oval 32"/>
          <p:cNvSpPr/>
          <p:nvPr/>
        </p:nvSpPr>
        <p:spPr>
          <a:xfrm>
            <a:off x="6537960" y="5029200"/>
            <a:ext cx="91440" cy="91440"/>
          </a:xfrm>
          <a:prstGeom prst="ellipse">
            <a:avLst/>
          </a:prstGeom>
          <a:solidFill>
            <a:srgbClr val="F065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720840" y="4937760"/>
            <a:ext cx="1920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F7F3EE"/>
                </a:solidFill>
                <a:latin typeface="Inter"/>
              </a:rPr>
              <a:t>Bengali language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052560" y="2560320"/>
            <a:ext cx="2743200" cy="3291840"/>
          </a:xfrm>
          <a:prstGeom prst="roundRect">
            <a:avLst>
              <a:gd name="adj" fmla="val 6000"/>
            </a:avLst>
          </a:prstGeom>
          <a:solidFill>
            <a:srgbClr val="161A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052560" y="2560320"/>
            <a:ext cx="2743200" cy="54864"/>
          </a:xfrm>
          <a:prstGeom prst="rect">
            <a:avLst/>
          </a:prstGeom>
          <a:solidFill>
            <a:srgbClr val="F065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372600" y="2880360"/>
            <a:ext cx="2103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F0653B"/>
                </a:solidFill>
                <a:latin typeface="Inter Tight"/>
              </a:rPr>
              <a:t>Q4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372600" y="3246120"/>
            <a:ext cx="2103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>
                <a:solidFill>
                  <a:srgbClr val="F7F3EE"/>
                </a:solidFill>
                <a:latin typeface="Inter Tight"/>
              </a:rPr>
              <a:t>Client app</a:t>
            </a:r>
          </a:p>
        </p:txBody>
      </p:sp>
      <p:sp>
        <p:nvSpPr>
          <p:cNvPr id="39" name="Oval 38"/>
          <p:cNvSpPr/>
          <p:nvPr/>
        </p:nvSpPr>
        <p:spPr>
          <a:xfrm>
            <a:off x="9372600" y="4023360"/>
            <a:ext cx="91440" cy="91440"/>
          </a:xfrm>
          <a:prstGeom prst="ellipse">
            <a:avLst/>
          </a:prstGeom>
          <a:solidFill>
            <a:srgbClr val="F065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555480" y="3931920"/>
            <a:ext cx="1920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F7F3EE"/>
                </a:solidFill>
                <a:latin typeface="Inter"/>
              </a:rPr>
              <a:t>Native client mobile app</a:t>
            </a:r>
          </a:p>
        </p:txBody>
      </p:sp>
      <p:sp>
        <p:nvSpPr>
          <p:cNvPr id="41" name="Oval 40"/>
          <p:cNvSpPr/>
          <p:nvPr/>
        </p:nvSpPr>
        <p:spPr>
          <a:xfrm>
            <a:off x="9372600" y="4526280"/>
            <a:ext cx="91440" cy="91440"/>
          </a:xfrm>
          <a:prstGeom prst="ellipse">
            <a:avLst/>
          </a:prstGeom>
          <a:solidFill>
            <a:srgbClr val="F065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555480" y="4434840"/>
            <a:ext cx="1920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F7F3EE"/>
                </a:solidFill>
                <a:latin typeface="Inter"/>
              </a:rPr>
              <a:t>Push notifications</a:t>
            </a:r>
          </a:p>
        </p:txBody>
      </p:sp>
      <p:sp>
        <p:nvSpPr>
          <p:cNvPr id="43" name="Oval 42"/>
          <p:cNvSpPr/>
          <p:nvPr/>
        </p:nvSpPr>
        <p:spPr>
          <a:xfrm>
            <a:off x="9372600" y="5029200"/>
            <a:ext cx="91440" cy="91440"/>
          </a:xfrm>
          <a:prstGeom prst="ellipse">
            <a:avLst/>
          </a:prstGeom>
          <a:solidFill>
            <a:srgbClr val="F065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555480" y="4937760"/>
            <a:ext cx="1920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F7F3EE"/>
                </a:solidFill>
                <a:latin typeface="Inter"/>
              </a:rPr>
              <a:t>1,000 paying customers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5A6473"/>
                </a:solidFill>
                <a:latin typeface="Inter"/>
              </a:rPr>
              <a:t>FrameDrops  ·  Confidential  ·  framedrops.in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607040" y="644652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5A6473"/>
                </a:solidFill>
                <a:latin typeface="Inter"/>
              </a:rPr>
              <a:t>11 / 13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1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777240"/>
            <a:ext cx="1463040" cy="292608"/>
          </a:xfrm>
          <a:prstGeom prst="roundRect">
            <a:avLst>
              <a:gd name="adj" fmla="val 50000"/>
            </a:avLst>
          </a:prstGeom>
          <a:solidFill>
            <a:srgbClr val="F065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100" b="1">
                <a:solidFill>
                  <a:srgbClr val="0E1116"/>
                </a:solidFill>
                <a:latin typeface="Inter Tight"/>
              </a:rPr>
              <a:t>TEAM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109728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200" b="1">
                <a:solidFill>
                  <a:srgbClr val="F7F3EE"/>
                </a:solidFill>
                <a:latin typeface="Inter Tight"/>
              </a:rPr>
              <a:t>Builders who've shipped.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468880"/>
            <a:ext cx="5486400" cy="3657600"/>
          </a:xfrm>
          <a:prstGeom prst="roundRect">
            <a:avLst>
              <a:gd name="adj" fmla="val 6000"/>
            </a:avLst>
          </a:prstGeom>
          <a:solidFill>
            <a:srgbClr val="161A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05840" y="2926080"/>
            <a:ext cx="1097280" cy="1097280"/>
          </a:xfrm>
          <a:prstGeom prst="ellipse">
            <a:avLst/>
          </a:prstGeom>
          <a:solidFill>
            <a:srgbClr val="F065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926080"/>
            <a:ext cx="1097280" cy="10972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3600" b="1">
                <a:solidFill>
                  <a:srgbClr val="0E1116"/>
                </a:solidFill>
                <a:latin typeface="Inter Tight"/>
              </a:rPr>
              <a:t>F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77440" y="3063240"/>
            <a:ext cx="3200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>
                <a:solidFill>
                  <a:srgbClr val="F7F3EE"/>
                </a:solidFill>
                <a:latin typeface="Inter Tight"/>
              </a:rPr>
              <a:t>Founder Name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77440" y="352044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F0653B"/>
                </a:solidFill>
                <a:latin typeface="Inter Tight"/>
              </a:rPr>
              <a:t>Founder &amp; CEO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4480560"/>
            <a:ext cx="4572000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0">
                <a:solidFill>
                  <a:srgbClr val="9AA3B2"/>
                </a:solidFill>
                <a:latin typeface="Inter"/>
              </a:rPr>
              <a:t>Solo founder, full-stack engineer.</a:t>
            </a:r>
          </a:p>
          <a:p>
            <a:pPr algn="l">
              <a:lnSpc>
                <a:spcPct val="150000"/>
              </a:lnSpc>
            </a:pPr>
            <a:r>
              <a:rPr sz="1300" b="0">
                <a:solidFill>
                  <a:srgbClr val="9AA3B2"/>
                </a:solidFill>
                <a:latin typeface="Inter"/>
              </a:rPr>
              <a:t>Built and shipped FrameDrops end-to-end:</a:t>
            </a:r>
          </a:p>
          <a:p>
            <a:pPr algn="l">
              <a:lnSpc>
                <a:spcPct val="150000"/>
              </a:lnSpc>
            </a:pPr>
            <a:r>
              <a:rPr sz="1300" b="0">
                <a:solidFill>
                  <a:srgbClr val="9AA3B2"/>
                </a:solidFill>
                <a:latin typeface="Inter"/>
              </a:rPr>
              <a:t>frontend, backend, infra, payments.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2468880"/>
            <a:ext cx="5486400" cy="3657600"/>
          </a:xfrm>
          <a:prstGeom prst="roundRect">
            <a:avLst>
              <a:gd name="adj" fmla="val 6000"/>
            </a:avLst>
          </a:prstGeom>
          <a:solidFill>
            <a:srgbClr val="161A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629400" y="2926080"/>
            <a:ext cx="1097280" cy="1097280"/>
          </a:xfrm>
          <a:prstGeom prst="ellipse">
            <a:avLst/>
          </a:prstGeom>
          <a:solidFill>
            <a:srgbClr val="2A2F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29400" y="2926080"/>
            <a:ext cx="1097280" cy="10972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3600" b="1">
                <a:solidFill>
                  <a:srgbClr val="0E1116"/>
                </a:solidFill>
                <a:latin typeface="Inter Tight"/>
              </a:rPr>
              <a:t>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01000" y="3063240"/>
            <a:ext cx="3200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>
                <a:solidFill>
                  <a:srgbClr val="F7F3EE"/>
                </a:solidFill>
                <a:latin typeface="Inter Tight"/>
              </a:rPr>
              <a:t>Open role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01000" y="352044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F0653B"/>
                </a:solidFill>
                <a:latin typeface="Inter Tight"/>
              </a:rPr>
              <a:t>Co-founder / Growth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29400" y="4480560"/>
            <a:ext cx="4572000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0">
                <a:solidFill>
                  <a:srgbClr val="9AA3B2"/>
                </a:solidFill>
                <a:latin typeface="Inter"/>
              </a:rPr>
              <a:t>Looking for a partner to lead</a:t>
            </a:r>
          </a:p>
          <a:p>
            <a:pPr algn="l">
              <a:lnSpc>
                <a:spcPct val="150000"/>
              </a:lnSpc>
            </a:pPr>
            <a:r>
              <a:rPr sz="1300" b="0">
                <a:solidFill>
                  <a:srgbClr val="9AA3B2"/>
                </a:solidFill>
                <a:latin typeface="Inter"/>
              </a:rPr>
              <a:t>go-to-market and photographer</a:t>
            </a:r>
          </a:p>
          <a:p>
            <a:pPr algn="l">
              <a:lnSpc>
                <a:spcPct val="150000"/>
              </a:lnSpc>
            </a:pPr>
            <a:r>
              <a:rPr sz="1300" b="0">
                <a:solidFill>
                  <a:srgbClr val="9AA3B2"/>
                </a:solidFill>
                <a:latin typeface="Inter"/>
              </a:rPr>
              <a:t>community growth.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26364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5A6473"/>
                </a:solidFill>
                <a:latin typeface="Inter"/>
              </a:rPr>
              <a:t>Advisors and team to be announced post-seed.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5A6473"/>
                </a:solidFill>
                <a:latin typeface="Inter"/>
              </a:rPr>
              <a:t>FrameDrops  ·  Confidential  ·  framedrops.in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7040" y="644652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5A6473"/>
                </a:solidFill>
                <a:latin typeface="Inter"/>
              </a:rPr>
              <a:t>12 / 13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1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065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22960" y="777240"/>
            <a:ext cx="1463040" cy="292608"/>
          </a:xfrm>
          <a:prstGeom prst="roundRect">
            <a:avLst>
              <a:gd name="adj" fmla="val 50000"/>
            </a:avLst>
          </a:prstGeom>
          <a:solidFill>
            <a:srgbClr val="F065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100" b="1">
                <a:solidFill>
                  <a:srgbClr val="0E1116"/>
                </a:solidFill>
                <a:latin typeface="Inter Tight"/>
              </a:rPr>
              <a:t>THE ASK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371600"/>
            <a:ext cx="1051560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400" b="1">
                <a:solidFill>
                  <a:srgbClr val="F7F3EE"/>
                </a:solidFill>
                <a:latin typeface="Inter Tight"/>
              </a:rPr>
              <a:t>Raising ₹X Cr seed.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10896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F0653B"/>
                </a:solidFill>
                <a:latin typeface="Inter Tight"/>
              </a:rPr>
              <a:t>USE OF FUNDS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3520440"/>
            <a:ext cx="5257800" cy="365760"/>
          </a:xfrm>
          <a:prstGeom prst="rect">
            <a:avLst/>
          </a:prstGeom>
          <a:solidFill>
            <a:srgbClr val="F065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080760" y="3520440"/>
            <a:ext cx="3154680" cy="365760"/>
          </a:xfrm>
          <a:prstGeom prst="rect">
            <a:avLst/>
          </a:prstGeom>
          <a:solidFill>
            <a:srgbClr val="E0A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235440" y="3520440"/>
            <a:ext cx="2103120" cy="365760"/>
          </a:xfrm>
          <a:prstGeom prst="rect">
            <a:avLst/>
          </a:prstGeom>
          <a:solidFill>
            <a:srgbClr val="6B4F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22960" y="4160520"/>
            <a:ext cx="164592" cy="164592"/>
          </a:xfrm>
          <a:prstGeom prst="rect">
            <a:avLst/>
          </a:prstGeom>
          <a:solidFill>
            <a:srgbClr val="F065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411480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F7F3EE"/>
                </a:solidFill>
                <a:latin typeface="Inter"/>
              </a:rPr>
              <a:t>50%  Product &amp; engineering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480560" y="4160520"/>
            <a:ext cx="164592" cy="164592"/>
          </a:xfrm>
          <a:prstGeom prst="rect">
            <a:avLst/>
          </a:prstGeom>
          <a:solidFill>
            <a:srgbClr val="E0A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54880" y="411480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F7F3EE"/>
                </a:solidFill>
                <a:latin typeface="Inter"/>
              </a:rPr>
              <a:t>30%  Growth &amp; GTM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38160" y="4160520"/>
            <a:ext cx="164592" cy="164592"/>
          </a:xfrm>
          <a:prstGeom prst="rect">
            <a:avLst/>
          </a:prstGeom>
          <a:solidFill>
            <a:srgbClr val="6B4F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12480" y="411480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F7F3EE"/>
                </a:solidFill>
                <a:latin typeface="Inter"/>
              </a:rPr>
              <a:t>20%  Team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5029200"/>
            <a:ext cx="105156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800" b="0">
                <a:solidFill>
                  <a:srgbClr val="9AA3B2"/>
                </a:solidFill>
                <a:latin typeface="Inter"/>
              </a:rPr>
              <a:t>Our vision: become the default photo-delivery platform</a:t>
            </a:r>
          </a:p>
          <a:p>
            <a:pPr algn="l">
              <a:lnSpc>
                <a:spcPct val="150000"/>
              </a:lnSpc>
            </a:pPr>
            <a:r>
              <a:rPr sz="1800" b="0">
                <a:solidFill>
                  <a:srgbClr val="9AA3B2"/>
                </a:solidFill>
                <a:latin typeface="Inter"/>
              </a:rPr>
              <a:t>for every photographer in India — and the language-first</a:t>
            </a:r>
          </a:p>
          <a:p>
            <a:pPr algn="l">
              <a:lnSpc>
                <a:spcPct val="150000"/>
              </a:lnSpc>
            </a:pPr>
            <a:r>
              <a:rPr sz="1800" b="0">
                <a:solidFill>
                  <a:srgbClr val="9AA3B2"/>
                </a:solidFill>
                <a:latin typeface="Inter"/>
              </a:rPr>
              <a:t>photo platform of the world.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2960" y="6355080"/>
            <a:ext cx="10515600" cy="6350"/>
          </a:xfrm>
          <a:prstGeom prst="rect">
            <a:avLst/>
          </a:prstGeom>
          <a:solidFill>
            <a:srgbClr val="2A2F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649224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5A6473"/>
                </a:solidFill>
                <a:latin typeface="Inter"/>
              </a:rPr>
              <a:t>hello@framedrops.in   ·   framedrops.in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